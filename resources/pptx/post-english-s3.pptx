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2286000" cy="1828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03720" y="91440"/>
            <a:ext cx="2148840" cy="457200"/>
          </a:xfrm>
          <a:prstGeom prst="rect">
            <a:avLst/>
          </a:prstGeom>
          <a:noFill/>
        </p:spPr>
        <p:txBody>
          <a:bodyPr wrap="square">
            <a:spAutoFit/>
          </a:bodyPr>
          <a:lstStyle/>
          <a:p>
            <a:pPr algn="l"/>
            <a:r>
              <a:rPr sz="1100" b="1" i="0">
                <a:solidFill>
                  <a:srgbClr val="FFFFFF"/>
                </a:solidFill>
                <a:latin typeface="Calibri"/>
              </a:rPr>
              <a:t>ENGLISH</a:t>
            </a:r>
          </a:p>
        </p:txBody>
      </p:sp>
      <p:sp>
        <p:nvSpPr>
          <p:cNvPr id="6" name="TextBox 5"/>
          <p:cNvSpPr txBox="1"/>
          <p:nvPr/>
        </p:nvSpPr>
        <p:spPr>
          <a:xfrm>
            <a:off x="6903720" y="502920"/>
            <a:ext cx="2148840" cy="365760"/>
          </a:xfrm>
          <a:prstGeom prst="rect">
            <a:avLst/>
          </a:prstGeom>
          <a:noFill/>
        </p:spPr>
        <p:txBody>
          <a:bodyPr wrap="square">
            <a:spAutoFit/>
          </a:bodyPr>
          <a:lstStyle/>
          <a:p>
            <a:pPr algn="l"/>
            <a:r>
              <a:rPr sz="2200" b="1" i="0">
                <a:solidFill>
                  <a:srgbClr val="FFFFFF"/>
                </a:solidFill>
                <a:latin typeface="Calibri"/>
              </a:rPr>
              <a:t>STAGE 3</a:t>
            </a:r>
          </a:p>
        </p:txBody>
      </p:sp>
      <p:sp>
        <p:nvSpPr>
          <p:cNvPr id="7" name="TextBox 6"/>
          <p:cNvSpPr txBox="1"/>
          <p:nvPr/>
        </p:nvSpPr>
        <p:spPr>
          <a:xfrm>
            <a:off x="6903720" y="1097280"/>
            <a:ext cx="2148840" cy="365760"/>
          </a:xfrm>
          <a:prstGeom prst="rect">
            <a:avLst/>
          </a:prstGeom>
          <a:noFill/>
        </p:spPr>
        <p:txBody>
          <a:bodyPr wrap="square">
            <a:spAutoFit/>
          </a:bodyPr>
          <a:lstStyle/>
          <a:p>
            <a:pPr algn="l"/>
            <a:r>
              <a:rPr sz="1400" b="0" i="0">
                <a:solidFill>
                  <a:srgbClr val="A8C4B2"/>
                </a:solidFill>
                <a:latin typeface="Calibri"/>
              </a:rPr>
              <a:t>POST-VISIT</a:t>
            </a:r>
          </a:p>
        </p:txBody>
      </p:sp>
      <p:sp>
        <p:nvSpPr>
          <p:cNvPr id="8" name="TextBox 7"/>
          <p:cNvSpPr txBox="1"/>
          <p:nvPr/>
        </p:nvSpPr>
        <p:spPr>
          <a:xfrm>
            <a:off x="640080" y="1371600"/>
            <a:ext cx="6035040" cy="1828800"/>
          </a:xfrm>
          <a:prstGeom prst="rect">
            <a:avLst/>
          </a:prstGeom>
          <a:noFill/>
        </p:spPr>
        <p:txBody>
          <a:bodyPr wrap="square">
            <a:spAutoFit/>
          </a:bodyPr>
          <a:lstStyle/>
          <a:p>
            <a:pPr algn="l"/>
            <a:r>
              <a:rPr sz="3200" b="1" i="0">
                <a:solidFill>
                  <a:srgbClr val="FFFFFF"/>
                </a:solidFill>
                <a:latin typeface="Calibri"/>
              </a:rPr>
              <a:t>Informational &amp; Persuasive Writing
After the Zoo</a:t>
            </a:r>
          </a:p>
        </p:txBody>
      </p:sp>
      <p:sp>
        <p:nvSpPr>
          <p:cNvPr id="9" name="TextBox 8"/>
          <p:cNvSpPr txBox="1"/>
          <p:nvPr/>
        </p:nvSpPr>
        <p:spPr>
          <a:xfrm>
            <a:off x="640080" y="3291840"/>
            <a:ext cx="5486400" cy="457200"/>
          </a:xfrm>
          <a:prstGeom prst="rect">
            <a:avLst/>
          </a:prstGeom>
          <a:noFill/>
        </p:spPr>
        <p:txBody>
          <a:bodyPr wrap="square">
            <a:spAutoFit/>
          </a:bodyPr>
          <a:lstStyle/>
          <a:p>
            <a:pPr algn="l"/>
            <a:r>
              <a:rPr sz="1300" b="1" i="0">
                <a:solidFill>
                  <a:srgbClr val="7C3AED"/>
                </a:solidFill>
                <a:latin typeface="Calibri"/>
              </a:rPr>
              <a:t>TARONGA TRACKA</a:t>
            </a:r>
          </a:p>
        </p:txBody>
      </p:sp>
      <p:sp>
        <p:nvSpPr>
          <p:cNvPr id="10" name="TextBox 9"/>
          <p:cNvSpPr txBox="1"/>
          <p:nvPr/>
        </p:nvSpPr>
        <p:spPr>
          <a:xfrm>
            <a:off x="640080" y="3749039"/>
            <a:ext cx="7772400" cy="320040"/>
          </a:xfrm>
          <a:prstGeom prst="rect">
            <a:avLst/>
          </a:prstGeom>
          <a:noFill/>
        </p:spPr>
        <p:txBody>
          <a:bodyPr wrap="square">
            <a:spAutoFit/>
          </a:bodyPr>
          <a:lstStyle/>
          <a:p>
            <a:pPr algn="l"/>
            <a:r>
              <a:rPr sz="1000" b="0" i="0">
                <a:solidFill>
                  <a:srgbClr val="88AA99"/>
                </a:solidFill>
                <a:latin typeface="Calibri"/>
              </a:rPr>
              <a:t>NSW Outcomes: EN3-VOCAB-01  ·  EN3-COMP-01  ·  EN3-URA-01</a:t>
            </a:r>
          </a:p>
        </p:txBody>
      </p:sp>
      <p:sp>
        <p:nvSpPr>
          <p:cNvPr id="11" name="Rectangle 10"/>
          <p:cNvSpPr/>
          <p:nvPr/>
        </p:nvSpPr>
        <p:spPr>
          <a:xfrm>
            <a:off x="640080" y="4160520"/>
            <a:ext cx="7863840" cy="22860"/>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297680"/>
            <a:ext cx="7772400" cy="365760"/>
          </a:xfrm>
          <a:prstGeom prst="rect">
            <a:avLst/>
          </a:prstGeom>
          <a:noFill/>
        </p:spPr>
        <p:txBody>
          <a:bodyPr wrap="square">
            <a:spAutoFit/>
          </a:bodyPr>
          <a:lstStyle/>
          <a:p>
            <a:pPr algn="l"/>
            <a:r>
              <a:rPr sz="1100" b="0" i="0">
                <a:solidFill>
                  <a:srgbClr val="A8C4B2"/>
                </a:solidFill>
                <a:latin typeface="Calibri"/>
              </a:rPr>
              <a:t>Consolidate learning after the Taronga excursion</a:t>
            </a:r>
          </a:p>
        </p:txBody>
      </p:sp>
      <p:sp>
        <p:nvSpPr>
          <p:cNvPr id="13" name="Rectangle 12"/>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6601968"/>
            <a:ext cx="8778240" cy="228600"/>
          </a:xfrm>
          <a:prstGeom prst="rect">
            <a:avLst/>
          </a:prstGeom>
          <a:noFill/>
        </p:spPr>
        <p:txBody>
          <a:bodyPr wrap="square">
            <a:spAutoFit/>
          </a:bodyPr>
          <a:lstStyle/>
          <a:p>
            <a:pPr algn="r"/>
            <a:r>
              <a:rPr sz="900" b="0" i="0">
                <a:solidFill>
                  <a:srgbClr val="88AA99"/>
                </a:solidFill>
                <a:latin typeface="Calibri"/>
              </a:rPr>
              <a:t>taronga.org.au  ·  tarongatracka.com.au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82296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
            <a:ext cx="8595360" cy="640080"/>
          </a:xfrm>
          <a:prstGeom prst="rect">
            <a:avLst/>
          </a:prstGeom>
          <a:noFill/>
        </p:spPr>
        <p:txBody>
          <a:bodyPr wrap="square">
            <a:spAutoFit/>
          </a:bodyPr>
          <a:lstStyle/>
          <a:p>
            <a:pPr algn="l"/>
            <a:r>
              <a:rPr sz="1400" b="1" i="0">
                <a:solidFill>
                  <a:srgbClr val="FFFFFF"/>
                </a:solidFill>
                <a:latin typeface="Calibri"/>
              </a:rPr>
              <a:t>LEARNING INTENTION &amp; SUCCESS CRITERIA</a:t>
            </a:r>
          </a:p>
        </p:txBody>
      </p:sp>
      <p:sp>
        <p:nvSpPr>
          <p:cNvPr id="5" name="Rectangle 4"/>
          <p:cNvSpPr/>
          <p:nvPr/>
        </p:nvSpPr>
        <p:spPr>
          <a:xfrm>
            <a:off x="274320" y="1097280"/>
            <a:ext cx="8595360" cy="1371600"/>
          </a:xfrm>
          <a:prstGeom prst="rect">
            <a:avLst/>
          </a:prstGeom>
          <a:solidFill>
            <a:srgbClr val="0E2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97280"/>
            <a:ext cx="73152" cy="13716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3657600" cy="320040"/>
          </a:xfrm>
          <a:prstGeom prst="rect">
            <a:avLst/>
          </a:prstGeom>
          <a:noFill/>
        </p:spPr>
        <p:txBody>
          <a:bodyPr wrap="square">
            <a:spAutoFit/>
          </a:bodyPr>
          <a:lstStyle/>
          <a:p>
            <a:pPr algn="l"/>
            <a:r>
              <a:rPr sz="1000" b="1" i="0">
                <a:solidFill>
                  <a:srgbClr val="7C3AED"/>
                </a:solidFill>
                <a:latin typeface="Calibri"/>
              </a:rPr>
              <a:t>LEARNING INTENTION</a:t>
            </a:r>
          </a:p>
        </p:txBody>
      </p:sp>
      <p:sp>
        <p:nvSpPr>
          <p:cNvPr id="8" name="TextBox 7"/>
          <p:cNvSpPr txBox="1"/>
          <p:nvPr/>
        </p:nvSpPr>
        <p:spPr>
          <a:xfrm>
            <a:off x="457200" y="1463040"/>
            <a:ext cx="8138160" cy="822960"/>
          </a:xfrm>
          <a:prstGeom prst="rect">
            <a:avLst/>
          </a:prstGeom>
          <a:noFill/>
        </p:spPr>
        <p:txBody>
          <a:bodyPr wrap="square">
            <a:spAutoFit/>
          </a:bodyPr>
          <a:lstStyle/>
          <a:p>
            <a:pPr algn="l"/>
            <a:r>
              <a:rPr sz="1400" b="0" i="0">
                <a:solidFill>
                  <a:srgbClr val="FFFFFF"/>
                </a:solidFill>
                <a:latin typeface="Calibri"/>
              </a:rPr>
              <a:t>Write structured informational and persuasive texts using evidence from the zoo visit, formal vocabulary and clear argument structures.</a:t>
            </a:r>
          </a:p>
        </p:txBody>
      </p:sp>
      <p:sp>
        <p:nvSpPr>
          <p:cNvPr id="9" name="TextBox 8"/>
          <p:cNvSpPr txBox="1"/>
          <p:nvPr/>
        </p:nvSpPr>
        <p:spPr>
          <a:xfrm>
            <a:off x="274320" y="2697480"/>
            <a:ext cx="8229600" cy="365760"/>
          </a:xfrm>
          <a:prstGeom prst="rect">
            <a:avLst/>
          </a:prstGeom>
          <a:noFill/>
        </p:spPr>
        <p:txBody>
          <a:bodyPr wrap="square">
            <a:spAutoFit/>
          </a:bodyPr>
          <a:lstStyle/>
          <a:p>
            <a:pPr algn="l"/>
            <a:r>
              <a:rPr sz="1200" b="1" i="0">
                <a:solidFill>
                  <a:srgbClr val="D97706"/>
                </a:solidFill>
                <a:latin typeface="Calibri"/>
              </a:rPr>
              <a:t>SUCCESS CRITERIA — I can...</a:t>
            </a:r>
          </a:p>
        </p:txBody>
      </p:sp>
      <p:sp>
        <p:nvSpPr>
          <p:cNvPr id="10" name="Rectangle 9"/>
          <p:cNvSpPr/>
          <p:nvPr/>
        </p:nvSpPr>
        <p:spPr>
          <a:xfrm>
            <a:off x="274320" y="310896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3108960"/>
            <a:ext cx="73152" cy="685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218688"/>
            <a:ext cx="32004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 y="3200400"/>
            <a:ext cx="292608" cy="365760"/>
          </a:xfrm>
          <a:prstGeom prst="rect">
            <a:avLst/>
          </a:prstGeom>
          <a:noFill/>
        </p:spPr>
        <p:txBody>
          <a:bodyPr wrap="square">
            <a:spAutoFit/>
          </a:bodyPr>
          <a:lstStyle/>
          <a:p>
            <a:pPr algn="ctr"/>
            <a:r>
              <a:rPr sz="1200" b="1" i="0">
                <a:solidFill>
                  <a:srgbClr val="FFFFFF"/>
                </a:solidFill>
                <a:latin typeface="Calibri"/>
              </a:rPr>
              <a:t>1</a:t>
            </a:r>
          </a:p>
        </p:txBody>
      </p:sp>
      <p:sp>
        <p:nvSpPr>
          <p:cNvPr id="14" name="TextBox 13"/>
          <p:cNvSpPr txBox="1"/>
          <p:nvPr/>
        </p:nvSpPr>
        <p:spPr>
          <a:xfrm>
            <a:off x="868680" y="3200400"/>
            <a:ext cx="7772400" cy="502920"/>
          </a:xfrm>
          <a:prstGeom prst="rect">
            <a:avLst/>
          </a:prstGeom>
          <a:noFill/>
        </p:spPr>
        <p:txBody>
          <a:bodyPr wrap="square">
            <a:spAutoFit/>
          </a:bodyPr>
          <a:lstStyle/>
          <a:p>
            <a:pPr algn="l"/>
            <a:r>
              <a:rPr sz="1200" b="0" i="0">
                <a:solidFill>
                  <a:srgbClr val="FFFFFF"/>
                </a:solidFill>
                <a:latin typeface="Calibri"/>
              </a:rPr>
              <a:t>I can write a persuasive paragraph using CEEL structure with zoo evidence</a:t>
            </a:r>
          </a:p>
        </p:txBody>
      </p:sp>
      <p:sp>
        <p:nvSpPr>
          <p:cNvPr id="15" name="Rectangle 14"/>
          <p:cNvSpPr/>
          <p:nvPr/>
        </p:nvSpPr>
        <p:spPr>
          <a:xfrm>
            <a:off x="274320" y="393192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3931920"/>
            <a:ext cx="73152" cy="685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4041648"/>
            <a:ext cx="32004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 y="4023359"/>
            <a:ext cx="292608" cy="365760"/>
          </a:xfrm>
          <a:prstGeom prst="rect">
            <a:avLst/>
          </a:prstGeom>
          <a:noFill/>
        </p:spPr>
        <p:txBody>
          <a:bodyPr wrap="square">
            <a:spAutoFit/>
          </a:bodyPr>
          <a:lstStyle/>
          <a:p>
            <a:pPr algn="ctr"/>
            <a:r>
              <a:rPr sz="1200" b="1" i="0">
                <a:solidFill>
                  <a:srgbClr val="FFFFFF"/>
                </a:solidFill>
                <a:latin typeface="Calibri"/>
              </a:rPr>
              <a:t>2</a:t>
            </a:r>
          </a:p>
        </p:txBody>
      </p:sp>
      <p:sp>
        <p:nvSpPr>
          <p:cNvPr id="19" name="TextBox 18"/>
          <p:cNvSpPr txBox="1"/>
          <p:nvPr/>
        </p:nvSpPr>
        <p:spPr>
          <a:xfrm>
            <a:off x="868680" y="4023359"/>
            <a:ext cx="7772400" cy="502920"/>
          </a:xfrm>
          <a:prstGeom prst="rect">
            <a:avLst/>
          </a:prstGeom>
          <a:noFill/>
        </p:spPr>
        <p:txBody>
          <a:bodyPr wrap="square">
            <a:spAutoFit/>
          </a:bodyPr>
          <a:lstStyle/>
          <a:p>
            <a:pPr algn="l"/>
            <a:r>
              <a:rPr sz="1200" b="0" i="0">
                <a:solidFill>
                  <a:srgbClr val="FFFFFF"/>
                </a:solidFill>
                <a:latin typeface="Calibri"/>
              </a:rPr>
              <a:t>I can use at least three persuasive techniques in my writing</a:t>
            </a:r>
          </a:p>
        </p:txBody>
      </p:sp>
      <p:sp>
        <p:nvSpPr>
          <p:cNvPr id="20" name="Rectangle 19"/>
          <p:cNvSpPr/>
          <p:nvPr/>
        </p:nvSpPr>
        <p:spPr>
          <a:xfrm>
            <a:off x="274320" y="475488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4754880"/>
            <a:ext cx="73152" cy="685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4864608"/>
            <a:ext cx="32004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 y="4846320"/>
            <a:ext cx="292608" cy="365760"/>
          </a:xfrm>
          <a:prstGeom prst="rect">
            <a:avLst/>
          </a:prstGeom>
          <a:noFill/>
        </p:spPr>
        <p:txBody>
          <a:bodyPr wrap="square">
            <a:spAutoFit/>
          </a:bodyPr>
          <a:lstStyle/>
          <a:p>
            <a:pPr algn="ctr"/>
            <a:r>
              <a:rPr sz="1200" b="1" i="0">
                <a:solidFill>
                  <a:srgbClr val="FFFFFF"/>
                </a:solidFill>
                <a:latin typeface="Calibri"/>
              </a:rPr>
              <a:t>3</a:t>
            </a:r>
          </a:p>
        </p:txBody>
      </p:sp>
      <p:sp>
        <p:nvSpPr>
          <p:cNvPr id="24" name="TextBox 23"/>
          <p:cNvSpPr txBox="1"/>
          <p:nvPr/>
        </p:nvSpPr>
        <p:spPr>
          <a:xfrm>
            <a:off x="868680" y="4846320"/>
            <a:ext cx="7772400" cy="502920"/>
          </a:xfrm>
          <a:prstGeom prst="rect">
            <a:avLst/>
          </a:prstGeom>
          <a:noFill/>
        </p:spPr>
        <p:txBody>
          <a:bodyPr wrap="square">
            <a:spAutoFit/>
          </a:bodyPr>
          <a:lstStyle/>
          <a:p>
            <a:pPr algn="l"/>
            <a:r>
              <a:rPr sz="1200" b="0" i="0">
                <a:solidFill>
                  <a:srgbClr val="FFFFFF"/>
                </a:solidFill>
                <a:latin typeface="Calibri"/>
              </a:rPr>
              <a:t>I can use formal vocabulary and connective language to strengthen my argument</a:t>
            </a:r>
          </a:p>
        </p:txBody>
      </p:sp>
      <p:sp>
        <p:nvSpPr>
          <p:cNvPr id="25" name="Rectangle 24"/>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31008"/>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926080" y="914400"/>
            <a:ext cx="3291840" cy="256032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69080" y="1371600"/>
            <a:ext cx="1005840" cy="1005840"/>
          </a:xfrm>
          <a:prstGeom prst="rect">
            <a:avLst/>
          </a:prstGeom>
          <a:noFill/>
        </p:spPr>
        <p:txBody>
          <a:bodyPr wrap="square">
            <a:spAutoFit/>
          </a:bodyPr>
          <a:lstStyle/>
          <a:p>
            <a:pPr algn="ctr"/>
            <a:r>
              <a:rPr sz="4800" b="0" i="0">
                <a:solidFill>
                  <a:srgbClr val="7C3AED"/>
                </a:solidFill>
                <a:latin typeface="Calibri"/>
              </a:rPr>
              <a:t>▶</a:t>
            </a:r>
          </a:p>
        </p:txBody>
      </p:sp>
      <p:sp>
        <p:nvSpPr>
          <p:cNvPr id="5" name="TextBox 4"/>
          <p:cNvSpPr txBox="1"/>
          <p:nvPr/>
        </p:nvSpPr>
        <p:spPr>
          <a:xfrm>
            <a:off x="0" y="3611880"/>
            <a:ext cx="9144000" cy="457200"/>
          </a:xfrm>
          <a:prstGeom prst="rect">
            <a:avLst/>
          </a:prstGeom>
          <a:noFill/>
        </p:spPr>
        <p:txBody>
          <a:bodyPr wrap="square">
            <a:spAutoFit/>
          </a:bodyPr>
          <a:lstStyle/>
          <a:p>
            <a:pPr algn="ctr"/>
            <a:r>
              <a:rPr sz="2000" b="1" i="0">
                <a:solidFill>
                  <a:srgbClr val="FFFFFF"/>
                </a:solidFill>
                <a:latin typeface="Calibri"/>
              </a:rPr>
              <a:t>VIDEO PLACEHOLDER</a:t>
            </a:r>
          </a:p>
        </p:txBody>
      </p:sp>
      <p:sp>
        <p:nvSpPr>
          <p:cNvPr id="6" name="TextBox 5"/>
          <p:cNvSpPr txBox="1"/>
          <p:nvPr/>
        </p:nvSpPr>
        <p:spPr>
          <a:xfrm>
            <a:off x="731520" y="4160520"/>
            <a:ext cx="7680960" cy="1097280"/>
          </a:xfrm>
          <a:prstGeom prst="rect">
            <a:avLst/>
          </a:prstGeom>
          <a:noFill/>
        </p:spPr>
        <p:txBody>
          <a:bodyPr wrap="square">
            <a:spAutoFit/>
          </a:bodyPr>
          <a:lstStyle/>
          <a:p>
            <a:pPr algn="ctr"/>
            <a:r>
              <a:rPr sz="1300" b="0" i="0">
                <a:solidFill>
                  <a:srgbClr val="A8C4B2"/>
                </a:solidFill>
                <a:latin typeface="Calibri"/>
              </a:rPr>
              <a:t>Insert a short clip reviewing the animals students observed at the zoo.
Suggested: student video from the visit, Taronga social media, or conservation documentary.
Aim for 2–4 minutes — use as a reflection anchor.</a:t>
            </a:r>
          </a:p>
        </p:txBody>
      </p:sp>
      <p:sp>
        <p:nvSpPr>
          <p:cNvPr id="7" name="TextBox 6"/>
          <p:cNvSpPr txBox="1"/>
          <p:nvPr/>
        </p:nvSpPr>
        <p:spPr>
          <a:xfrm>
            <a:off x="457200" y="5852160"/>
            <a:ext cx="8229600" cy="365760"/>
          </a:xfrm>
          <a:prstGeom prst="rect">
            <a:avLst/>
          </a:prstGeom>
          <a:noFill/>
        </p:spPr>
        <p:txBody>
          <a:bodyPr wrap="square">
            <a:spAutoFit/>
          </a:bodyPr>
          <a:lstStyle/>
          <a:p>
            <a:pPr algn="ctr"/>
            <a:r>
              <a:rPr sz="1000" b="0" i="0">
                <a:solidFill>
                  <a:srgbClr val="558866"/>
                </a:solidFill>
                <a:latin typeface="Calibri"/>
              </a:rPr>
              <a:t>Teacher note: embed your chosen video directly into this slide before presenting.</a:t>
            </a:r>
          </a:p>
        </p:txBody>
      </p:sp>
      <p:sp>
        <p:nvSpPr>
          <p:cNvPr id="8" name="Rectangle 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EVIDENCE FROM OUR VISIT</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4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What facts did you discover at the zoo that surprised you?</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Which animal gave you the strongest evidence for a conservation argument?</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Peer check: is your evidence SPECIFIC or vague? Improve one piece.</a:t>
            </a:r>
          </a:p>
        </p:txBody>
      </p:sp>
      <p:sp>
        <p:nvSpPr>
          <p:cNvPr id="15" name="Rectangle 14"/>
          <p:cNvSpPr/>
          <p:nvPr/>
        </p:nvSpPr>
        <p:spPr>
          <a:xfrm>
            <a:off x="274320" y="406908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406908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78808"/>
            <a:ext cx="8229600" cy="658368"/>
          </a:xfrm>
          <a:prstGeom prst="rect">
            <a:avLst/>
          </a:prstGeom>
          <a:noFill/>
        </p:spPr>
        <p:txBody>
          <a:bodyPr wrap="square">
            <a:spAutoFit/>
          </a:bodyPr>
          <a:lstStyle/>
          <a:p>
            <a:pPr algn="l"/>
            <a:r>
              <a:rPr sz="1400" b="0" i="0">
                <a:solidFill>
                  <a:srgbClr val="FFFFFF"/>
                </a:solidFill>
                <a:latin typeface="Calibri"/>
              </a:rPr>
              <a:t>How could your Tracka observation score be used as evidence?</a:t>
            </a:r>
          </a:p>
        </p:txBody>
      </p:sp>
      <p:sp>
        <p:nvSpPr>
          <p:cNvPr id="18" name="Rectangle 1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EVALUATING PERSUASIVE TECHNIQUES</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5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Read this conservation advertisement — identify the techniques used</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Which technique was most effective? Least effective? Why?</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Did you notice Taronga using persuasive language at the zoo? Where?</a:t>
            </a:r>
          </a:p>
        </p:txBody>
      </p:sp>
      <p:sp>
        <p:nvSpPr>
          <p:cNvPr id="15" name="Rectangle 14"/>
          <p:cNvSpPr/>
          <p:nvPr/>
        </p:nvSpPr>
        <p:spPr>
          <a:xfrm>
            <a:off x="274320" y="406908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406908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78808"/>
            <a:ext cx="8229600" cy="658368"/>
          </a:xfrm>
          <a:prstGeom prst="rect">
            <a:avLst/>
          </a:prstGeom>
          <a:noFill/>
        </p:spPr>
        <p:txBody>
          <a:bodyPr wrap="square">
            <a:spAutoFit/>
          </a:bodyPr>
          <a:lstStyle/>
          <a:p>
            <a:pPr algn="l"/>
            <a:r>
              <a:rPr sz="1400" b="0" i="0">
                <a:solidFill>
                  <a:srgbClr val="FFFFFF"/>
                </a:solidFill>
                <a:latin typeface="Calibri"/>
              </a:rPr>
              <a:t>Discuss: can persuasive writing be dishonest? Where is the line?</a:t>
            </a:r>
          </a:p>
        </p:txBody>
      </p:sp>
      <p:sp>
        <p:nvSpPr>
          <p:cNvPr id="18" name="Rectangle 1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FEEDBACK AND REDRAFTING</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6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Swap your CEEL paragraph with a partner</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Feedback: one strength + one specific improvement</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Redraft your paragraph based on the feedback</a:t>
            </a:r>
          </a:p>
        </p:txBody>
      </p:sp>
      <p:sp>
        <p:nvSpPr>
          <p:cNvPr id="15" name="Rectangle 14"/>
          <p:cNvSpPr/>
          <p:nvPr/>
        </p:nvSpPr>
        <p:spPr>
          <a:xfrm>
            <a:off x="274320" y="406908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406908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78808"/>
            <a:ext cx="8229600" cy="658368"/>
          </a:xfrm>
          <a:prstGeom prst="rect">
            <a:avLst/>
          </a:prstGeom>
          <a:noFill/>
        </p:spPr>
        <p:txBody>
          <a:bodyPr wrap="square">
            <a:spAutoFit/>
          </a:bodyPr>
          <a:lstStyle/>
          <a:p>
            <a:pPr algn="l"/>
            <a:r>
              <a:rPr sz="1400" b="0" i="0">
                <a:solidFill>
                  <a:srgbClr val="FFFFFF"/>
                </a:solidFill>
                <a:latin typeface="Calibri"/>
              </a:rPr>
              <a:t>Read both versions aloud — which is stronger and why?</a:t>
            </a:r>
          </a:p>
        </p:txBody>
      </p:sp>
      <p:sp>
        <p:nvSpPr>
          <p:cNvPr id="18" name="Rectangle 1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1A10"/>
        </a:solidFill>
        <a:effectLst/>
      </p:bgPr>
    </p:bg>
    <p:spTree>
      <p:nvGrpSpPr>
        <p:cNvPr id="1" name=""/>
        <p:cNvGrpSpPr/>
        <p:nvPr/>
      </p:nvGrpSpPr>
      <p:grpSpPr/>
      <p:sp>
        <p:nvSpPr>
          <p:cNvPr id="2" name="Rectangle 1"/>
          <p:cNvSpPr/>
          <p:nvPr/>
        </p:nvSpPr>
        <p:spPr>
          <a:xfrm>
            <a:off x="0" y="0"/>
            <a:ext cx="9144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37160"/>
            <a:ext cx="8229600" cy="777240"/>
          </a:xfrm>
          <a:prstGeom prst="rect">
            <a:avLst/>
          </a:prstGeom>
          <a:noFill/>
        </p:spPr>
        <p:txBody>
          <a:bodyPr wrap="square">
            <a:spAutoFit/>
          </a:bodyPr>
          <a:lstStyle/>
          <a:p>
            <a:pPr algn="l"/>
            <a:r>
              <a:rPr sz="2800" b="1" i="0">
                <a:solidFill>
                  <a:srgbClr val="071E14"/>
                </a:solidFill>
                <a:latin typeface="Calibri"/>
              </a:rPr>
              <a:t>🧠  BRAIN BREAK</a:t>
            </a:r>
          </a:p>
        </p:txBody>
      </p:sp>
      <p:sp>
        <p:nvSpPr>
          <p:cNvPr id="5" name="TextBox 4"/>
          <p:cNvSpPr txBox="1"/>
          <p:nvPr/>
        </p:nvSpPr>
        <p:spPr>
          <a:xfrm>
            <a:off x="274320" y="1325880"/>
            <a:ext cx="8595360" cy="548640"/>
          </a:xfrm>
          <a:prstGeom prst="rect">
            <a:avLst/>
          </a:prstGeom>
          <a:noFill/>
        </p:spPr>
        <p:txBody>
          <a:bodyPr wrap="square">
            <a:spAutoFit/>
          </a:bodyPr>
          <a:lstStyle/>
          <a:p>
            <a:pPr algn="l"/>
            <a:r>
              <a:rPr sz="2200" b="1" i="0">
                <a:solidFill>
                  <a:srgbClr val="D97706"/>
                </a:solidFill>
                <a:latin typeface="Calibri"/>
              </a:rPr>
              <a:t>SAFARI SKETCH</a:t>
            </a:r>
          </a:p>
        </p:txBody>
      </p:sp>
      <p:sp>
        <p:nvSpPr>
          <p:cNvPr id="6" name="Rectangle 5"/>
          <p:cNvSpPr/>
          <p:nvPr/>
        </p:nvSpPr>
        <p:spPr>
          <a:xfrm>
            <a:off x="274320" y="2011680"/>
            <a:ext cx="8595360" cy="256032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2011680"/>
            <a:ext cx="91440" cy="2560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148840"/>
            <a:ext cx="8138160" cy="2286000"/>
          </a:xfrm>
          <a:prstGeom prst="rect">
            <a:avLst/>
          </a:prstGeom>
          <a:noFill/>
        </p:spPr>
        <p:txBody>
          <a:bodyPr wrap="square">
            <a:spAutoFit/>
          </a:bodyPr>
          <a:lstStyle/>
          <a:p>
            <a:pPr algn="l"/>
            <a:r>
              <a:rPr sz="1500" b="0" i="0">
                <a:solidFill>
                  <a:srgbClr val="FFFFFF"/>
                </a:solidFill>
                <a:latin typeface="Calibri"/>
              </a:rPr>
              <a:t>You have 60 seconds to draw an animal from today's visit. Show your class and see if they can guess it!</a:t>
            </a:r>
          </a:p>
        </p:txBody>
      </p:sp>
      <p:sp>
        <p:nvSpPr>
          <p:cNvPr id="9" name="TextBox 8"/>
          <p:cNvSpPr txBox="1"/>
          <p:nvPr/>
        </p:nvSpPr>
        <p:spPr>
          <a:xfrm>
            <a:off x="274320" y="4754880"/>
            <a:ext cx="8595360" cy="457200"/>
          </a:xfrm>
          <a:prstGeom prst="rect">
            <a:avLst/>
          </a:prstGeom>
          <a:noFill/>
        </p:spPr>
        <p:txBody>
          <a:bodyPr wrap="square">
            <a:spAutoFit/>
          </a:bodyPr>
          <a:lstStyle/>
          <a:p>
            <a:pPr algn="ctr"/>
            <a:r>
              <a:rPr sz="1200" b="1" i="0">
                <a:solidFill>
                  <a:srgbClr val="88AA77"/>
                </a:solidFill>
                <a:latin typeface="Calibri"/>
              </a:rPr>
              <a:t>⏱  Allow 3–5 minutes  ·  Everyone participates!</a:t>
            </a:r>
          </a:p>
        </p:txBody>
      </p:sp>
      <p:sp>
        <p:nvSpPr>
          <p:cNvPr id="10" name="Rectangle 9"/>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9144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8503920" cy="685800"/>
          </a:xfrm>
          <a:prstGeom prst="rect">
            <a:avLst/>
          </a:prstGeom>
          <a:noFill/>
        </p:spPr>
        <p:txBody>
          <a:bodyPr wrap="square">
            <a:spAutoFit/>
          </a:bodyPr>
          <a:lstStyle/>
          <a:p>
            <a:pPr algn="l"/>
            <a:r>
              <a:rPr sz="1600" b="1" i="0">
                <a:solidFill>
                  <a:srgbClr val="FFFFFF"/>
                </a:solidFill>
                <a:latin typeface="Calibri"/>
              </a:rPr>
              <a:t>ACTION PROJECT — Apply Your Learning</a:t>
            </a:r>
          </a:p>
        </p:txBody>
      </p:sp>
      <p:sp>
        <p:nvSpPr>
          <p:cNvPr id="5" name="TextBox 4"/>
          <p:cNvSpPr txBox="1"/>
          <p:nvPr/>
        </p:nvSpPr>
        <p:spPr>
          <a:xfrm>
            <a:off x="274320" y="1188720"/>
            <a:ext cx="8595360" cy="411480"/>
          </a:xfrm>
          <a:prstGeom prst="rect">
            <a:avLst/>
          </a:prstGeom>
          <a:noFill/>
        </p:spPr>
        <p:txBody>
          <a:bodyPr wrap="square">
            <a:spAutoFit/>
          </a:bodyPr>
          <a:lstStyle/>
          <a:p>
            <a:pPr algn="l"/>
            <a:r>
              <a:rPr sz="1700" b="1" i="0">
                <a:solidFill>
                  <a:srgbClr val="D97706"/>
                </a:solidFill>
                <a:latin typeface="Calibri"/>
              </a:rPr>
              <a:t>Conservation Argument Essay</a:t>
            </a:r>
          </a:p>
        </p:txBody>
      </p:sp>
      <p:sp>
        <p:nvSpPr>
          <p:cNvPr id="6" name="Rectangle 5"/>
          <p:cNvSpPr/>
          <p:nvPr/>
        </p:nvSpPr>
        <p:spPr>
          <a:xfrm>
            <a:off x="274320" y="1691640"/>
            <a:ext cx="8595360" cy="27432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691640"/>
            <a:ext cx="73152" cy="2743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83080"/>
            <a:ext cx="8138160" cy="2560320"/>
          </a:xfrm>
          <a:prstGeom prst="rect">
            <a:avLst/>
          </a:prstGeom>
          <a:noFill/>
        </p:spPr>
        <p:txBody>
          <a:bodyPr wrap="square">
            <a:spAutoFit/>
          </a:bodyPr>
          <a:lstStyle/>
          <a:p>
            <a:pPr algn="l"/>
            <a:r>
              <a:rPr sz="1200" b="0" i="0">
                <a:solidFill>
                  <a:srgbClr val="FFFFFF"/>
                </a:solidFill>
                <a:latin typeface="Calibri"/>
              </a:rPr>
              <a:t>Write a 350–500 word persuasive essay arguing for one conservation action that should be taken to protect an animal you observed at Taronga. Use at least three different persuasive techniques, CEEL structure for each body paragraph, evidence from your zoo visit, and formal vocabulary throughout. Include a title, introduction, two body paragraphs, and a conclusion.</a:t>
            </a:r>
          </a:p>
        </p:txBody>
      </p:sp>
      <p:sp>
        <p:nvSpPr>
          <p:cNvPr id="9" name="TextBox 8"/>
          <p:cNvSpPr txBox="1"/>
          <p:nvPr/>
        </p:nvSpPr>
        <p:spPr>
          <a:xfrm>
            <a:off x="274320" y="4617720"/>
            <a:ext cx="8595360" cy="365760"/>
          </a:xfrm>
          <a:prstGeom prst="rect">
            <a:avLst/>
          </a:prstGeom>
          <a:noFill/>
        </p:spPr>
        <p:txBody>
          <a:bodyPr wrap="square">
            <a:spAutoFit/>
          </a:bodyPr>
          <a:lstStyle/>
          <a:p>
            <a:pPr algn="ctr"/>
            <a:r>
              <a:rPr sz="1100" b="1" i="0">
                <a:solidFill>
                  <a:srgbClr val="88AA77"/>
                </a:solidFill>
                <a:latin typeface="Calibri"/>
              </a:rPr>
              <a:t>Project formats: Poster · Video · Model · Report · Presentation · Campaign</a:t>
            </a:r>
          </a:p>
        </p:txBody>
      </p:sp>
      <p:sp>
        <p:nvSpPr>
          <p:cNvPr id="10" name="Rectangle 9"/>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914400"/>
          </a:xfrm>
          <a:prstGeom prst="rect">
            <a:avLst/>
          </a:prstGeom>
          <a:solidFill>
            <a:srgbClr val="1A1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8229600" cy="685800"/>
          </a:xfrm>
          <a:prstGeom prst="rect">
            <a:avLst/>
          </a:prstGeom>
          <a:noFill/>
        </p:spPr>
        <p:txBody>
          <a:bodyPr wrap="square">
            <a:spAutoFit/>
          </a:bodyPr>
          <a:lstStyle/>
          <a:p>
            <a:pPr algn="l"/>
            <a:r>
              <a:rPr sz="2400" b="1" i="0">
                <a:solidFill>
                  <a:srgbClr val="D97706"/>
                </a:solidFill>
                <a:latin typeface="Calibri"/>
              </a:rPr>
              <a:t>🎫  EXIT TICKET</a:t>
            </a:r>
          </a:p>
        </p:txBody>
      </p:sp>
      <p:sp>
        <p:nvSpPr>
          <p:cNvPr id="5" name="Rectangle 4"/>
          <p:cNvSpPr/>
          <p:nvPr/>
        </p:nvSpPr>
        <p:spPr>
          <a:xfrm>
            <a:off x="274320" y="1234440"/>
            <a:ext cx="8595360" cy="169164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234440"/>
            <a:ext cx="73152" cy="1691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371600"/>
            <a:ext cx="457200" cy="411480"/>
          </a:xfrm>
          <a:prstGeom prst="rect">
            <a:avLst/>
          </a:prstGeom>
          <a:noFill/>
        </p:spPr>
        <p:txBody>
          <a:bodyPr wrap="square">
            <a:spAutoFit/>
          </a:bodyPr>
          <a:lstStyle/>
          <a:p>
            <a:pPr algn="l"/>
            <a:r>
              <a:rPr sz="1600" b="1" i="0">
                <a:solidFill>
                  <a:srgbClr val="D97706"/>
                </a:solidFill>
                <a:latin typeface="Calibri"/>
              </a:rPr>
              <a:t>Q1</a:t>
            </a:r>
          </a:p>
        </p:txBody>
      </p:sp>
      <p:sp>
        <p:nvSpPr>
          <p:cNvPr id="8" name="TextBox 7"/>
          <p:cNvSpPr txBox="1"/>
          <p:nvPr/>
        </p:nvSpPr>
        <p:spPr>
          <a:xfrm>
            <a:off x="457200" y="1417320"/>
            <a:ext cx="8138160" cy="1371600"/>
          </a:xfrm>
          <a:prstGeom prst="rect">
            <a:avLst/>
          </a:prstGeom>
          <a:noFill/>
        </p:spPr>
        <p:txBody>
          <a:bodyPr wrap="square">
            <a:spAutoFit/>
          </a:bodyPr>
          <a:lstStyle/>
          <a:p>
            <a:pPr algn="l"/>
            <a:r>
              <a:rPr sz="1300" b="0" i="0">
                <a:solidFill>
                  <a:srgbClr val="FFFFFF"/>
                </a:solidFill>
                <a:latin typeface="Calibri"/>
              </a:rPr>
              <a:t>Write a one-sentence claim about conservation using an animal from the zoo. Then write one piece of evidence to support it.</a:t>
            </a:r>
          </a:p>
        </p:txBody>
      </p:sp>
      <p:sp>
        <p:nvSpPr>
          <p:cNvPr id="9" name="Rectangle 8"/>
          <p:cNvSpPr/>
          <p:nvPr/>
        </p:nvSpPr>
        <p:spPr>
          <a:xfrm>
            <a:off x="274320" y="3154680"/>
            <a:ext cx="8595360" cy="169164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3154680"/>
            <a:ext cx="73152" cy="1691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3291840"/>
            <a:ext cx="457200" cy="411480"/>
          </a:xfrm>
          <a:prstGeom prst="rect">
            <a:avLst/>
          </a:prstGeom>
          <a:noFill/>
        </p:spPr>
        <p:txBody>
          <a:bodyPr wrap="square">
            <a:spAutoFit/>
          </a:bodyPr>
          <a:lstStyle/>
          <a:p>
            <a:pPr algn="l"/>
            <a:r>
              <a:rPr sz="1600" b="1" i="0">
                <a:solidFill>
                  <a:srgbClr val="D97706"/>
                </a:solidFill>
                <a:latin typeface="Calibri"/>
              </a:rPr>
              <a:t>Q2</a:t>
            </a:r>
          </a:p>
        </p:txBody>
      </p:sp>
      <p:sp>
        <p:nvSpPr>
          <p:cNvPr id="12" name="TextBox 11"/>
          <p:cNvSpPr txBox="1"/>
          <p:nvPr/>
        </p:nvSpPr>
        <p:spPr>
          <a:xfrm>
            <a:off x="457200" y="3337560"/>
            <a:ext cx="8138160" cy="1371600"/>
          </a:xfrm>
          <a:prstGeom prst="rect">
            <a:avLst/>
          </a:prstGeom>
          <a:noFill/>
        </p:spPr>
        <p:txBody>
          <a:bodyPr wrap="square">
            <a:spAutoFit/>
          </a:bodyPr>
          <a:lstStyle/>
          <a:p>
            <a:pPr algn="l"/>
            <a:r>
              <a:rPr sz="1300" b="0" i="0">
                <a:solidFill>
                  <a:srgbClr val="FFFFFF"/>
                </a:solidFill>
                <a:latin typeface="Calibri"/>
              </a:rPr>
              <a:t>Which persuasive technique is used here? "Can we really let the last 600 tigers disappear on our watch?"</a:t>
            </a:r>
          </a:p>
        </p:txBody>
      </p:sp>
      <p:sp>
        <p:nvSpPr>
          <p:cNvPr id="13" name="TextBox 12"/>
          <p:cNvSpPr txBox="1"/>
          <p:nvPr/>
        </p:nvSpPr>
        <p:spPr>
          <a:xfrm>
            <a:off x="274320" y="6035040"/>
            <a:ext cx="8595360" cy="365760"/>
          </a:xfrm>
          <a:prstGeom prst="rect">
            <a:avLst/>
          </a:prstGeom>
          <a:noFill/>
        </p:spPr>
        <p:txBody>
          <a:bodyPr wrap="square">
            <a:spAutoFit/>
          </a:bodyPr>
          <a:lstStyle/>
          <a:p>
            <a:pPr algn="ctr"/>
            <a:r>
              <a:rPr sz="1100" b="0" i="0">
                <a:solidFill>
                  <a:srgbClr val="88AA77"/>
                </a:solidFill>
                <a:latin typeface="Calibri"/>
              </a:rPr>
              <a:t>Hand in before leaving class — or submit digitally as directed by your teacher.</a:t>
            </a:r>
          </a:p>
        </p:txBody>
      </p:sp>
      <p:sp>
        <p:nvSpPr>
          <p:cNvPr id="14" name="Rectangle 13"/>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 y="6601968"/>
            <a:ext cx="8778240" cy="228600"/>
          </a:xfrm>
          <a:prstGeom prst="rect">
            <a:avLst/>
          </a:prstGeom>
          <a:noFill/>
        </p:spPr>
        <p:txBody>
          <a:bodyPr wrap="square">
            <a:spAutoFit/>
          </a:bodyPr>
          <a:lstStyle/>
          <a:p>
            <a:pPr algn="r"/>
            <a:r>
              <a:rPr sz="900" b="0" i="0">
                <a:solidFill>
                  <a:srgbClr val="558866"/>
                </a:solidFill>
                <a:latin typeface="Calibri"/>
              </a:rPr>
              <a:t>taronga.org.au  ·  TARONGA TRACKA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