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858000" y="0"/>
            <a:ext cx="2286000" cy="18288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903720" y="91440"/>
            <a:ext cx="2148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ENGLISH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903720" y="502920"/>
            <a:ext cx="2148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STAGE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03720" y="1097280"/>
            <a:ext cx="2148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A8C4B2"/>
                </a:solidFill>
                <a:latin typeface="Calibri"/>
              </a:rPr>
              <a:t>PRE-VISIT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371600"/>
            <a:ext cx="60350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alibri"/>
              </a:rPr>
              <a:t>Analytical Writing &amp; Close Reading
Before the Zoo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29184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7C3AED"/>
                </a:solidFill>
                <a:latin typeface="Calibri"/>
              </a:rPr>
              <a:t>TARONGA TRACKA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749039"/>
            <a:ext cx="7772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8AA99"/>
                </a:solidFill>
                <a:latin typeface="Calibri"/>
              </a:rPr>
              <a:t>NSW Outcomes: EN4-ECA-C-01  ·  EN4-ECB-C-01  ·  EN4-URA-C-01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4160520"/>
            <a:ext cx="7863840" cy="22860"/>
          </a:xfrm>
          <a:prstGeom prst="rect">
            <a:avLst/>
          </a:prstGeom>
          <a:solidFill>
            <a:srgbClr val="2E7D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4297680"/>
            <a:ext cx="7772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8C4B2"/>
                </a:solidFill>
                <a:latin typeface="Calibri"/>
              </a:rPr>
              <a:t>Prepare students for their Taronga excursion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6583680"/>
            <a:ext cx="9144000" cy="274320"/>
          </a:xfrm>
          <a:prstGeom prst="rect">
            <a:avLst/>
          </a:prstGeom>
          <a:solidFill>
            <a:srgbClr val="1A5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82880" y="6601968"/>
            <a:ext cx="87782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88AA99"/>
                </a:solidFill>
                <a:latin typeface="Calibri"/>
              </a:rPr>
              <a:t>taronga.org.au  ·  tarongatracka.com.au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9144000" cy="822960"/>
          </a:xfrm>
          <a:prstGeom prst="rect">
            <a:avLst/>
          </a:prstGeom>
          <a:solidFill>
            <a:srgbClr val="1A5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8595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LEARNING INTENTION &amp; SUCCESS CRITERIA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097280"/>
            <a:ext cx="8595360" cy="1371600"/>
          </a:xfrm>
          <a:prstGeom prst="rect">
            <a:avLst/>
          </a:prstGeom>
          <a:solidFill>
            <a:srgbClr val="0E2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" y="1097280"/>
            <a:ext cx="73152" cy="13716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14300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7C3AED"/>
                </a:solidFill>
                <a:latin typeface="Calibri"/>
              </a:rPr>
              <a:t>LEARNING INTENTION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463040"/>
            <a:ext cx="81381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Analyse how language choices create meaning and effect in conservation texts, and apply analytical writing skills to evaluate zoo observation writing.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269748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D97706"/>
                </a:solidFill>
                <a:latin typeface="Calibri"/>
              </a:rPr>
              <a:t>SUCCESS CRITERIA — I can...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3108960"/>
            <a:ext cx="8595360" cy="685800"/>
          </a:xfrm>
          <a:prstGeom prst="rect">
            <a:avLst/>
          </a:prstGeom>
          <a:solidFill>
            <a:srgbClr val="0A2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74320" y="3108960"/>
            <a:ext cx="73152" cy="6858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11480" y="3218688"/>
            <a:ext cx="320040" cy="32004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29768" y="3200400"/>
            <a:ext cx="29260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3200400"/>
            <a:ext cx="7772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I can write an analytical TEEL paragraph with a quote and language explanation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4320" y="3931920"/>
            <a:ext cx="8595360" cy="685800"/>
          </a:xfrm>
          <a:prstGeom prst="rect">
            <a:avLst/>
          </a:prstGeom>
          <a:solidFill>
            <a:srgbClr val="0A2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74320" y="3931920"/>
            <a:ext cx="73152" cy="6858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11480" y="4041648"/>
            <a:ext cx="320040" cy="32004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29768" y="4023359"/>
            <a:ext cx="29260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" y="4023359"/>
            <a:ext cx="7772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I can identify and explain the effect of figurative language in a text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74320" y="4754880"/>
            <a:ext cx="8595360" cy="685800"/>
          </a:xfrm>
          <a:prstGeom prst="rect">
            <a:avLst/>
          </a:prstGeom>
          <a:solidFill>
            <a:srgbClr val="0A2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274320" y="4754880"/>
            <a:ext cx="73152" cy="6858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11480" y="4864608"/>
            <a:ext cx="320040" cy="32004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29768" y="4846320"/>
            <a:ext cx="29260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8680" y="4846320"/>
            <a:ext cx="7772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I can analyse my own observation writing and identify specific language choices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0" y="6583680"/>
            <a:ext cx="9144000" cy="274320"/>
          </a:xfrm>
          <a:prstGeom prst="rect">
            <a:avLst/>
          </a:prstGeom>
          <a:solidFill>
            <a:srgbClr val="1A5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100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926080" y="914400"/>
            <a:ext cx="3291840" cy="2560320"/>
          </a:xfrm>
          <a:prstGeom prst="rect">
            <a:avLst/>
          </a:prstGeom>
          <a:solidFill>
            <a:srgbClr val="0A2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069080" y="1371600"/>
            <a:ext cx="10058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0" i="0">
                <a:solidFill>
                  <a:srgbClr val="7C3AED"/>
                </a:solidFill>
                <a:latin typeface="Calibri"/>
              </a:rPr>
              <a:t>▶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36118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VIDEO PLACEHOLDER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16052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A8C4B2"/>
                </a:solidFill>
                <a:latin typeface="Calibri"/>
              </a:rPr>
              <a:t>Insert a short clip introducing the animals students will observe on the excursion.
Suggested: Taronga keeper video, National Geographic clip, or animal documentary excerpt.
Aim for 2–4 minutes — pause at key moments to discuss.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852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558866"/>
                </a:solidFill>
                <a:latin typeface="Calibri"/>
              </a:rPr>
              <a:t>Teacher note: embed your chosen video directly into this slide before presenting.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83680"/>
            <a:ext cx="9144000" cy="274320"/>
          </a:xfrm>
          <a:prstGeom prst="rect">
            <a:avLst/>
          </a:prstGeom>
          <a:solidFill>
            <a:srgbClr val="1A5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9144000" cy="77724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64592"/>
            <a:ext cx="8229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Calibri"/>
              </a:rPr>
              <a:t>TEXT PURPOSE AND AUDIENCE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0" y="182880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A8C4B2"/>
                </a:solidFill>
                <a:latin typeface="Calibri"/>
              </a:rPr>
              <a:t>4 / 10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051560"/>
            <a:ext cx="8595360" cy="868680"/>
          </a:xfrm>
          <a:prstGeom prst="rect">
            <a:avLst/>
          </a:prstGeom>
          <a:solidFill>
            <a:srgbClr val="0A2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1051560"/>
            <a:ext cx="54864" cy="86868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161288"/>
            <a:ext cx="82296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Texts are constructed with a specific purpose and audience in mind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2057400"/>
            <a:ext cx="8595360" cy="868680"/>
          </a:xfrm>
          <a:prstGeom prst="rect">
            <a:avLst/>
          </a:prstGeom>
          <a:solidFill>
            <a:srgbClr val="0A2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74320" y="2057400"/>
            <a:ext cx="54864" cy="86868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2167128"/>
            <a:ext cx="82296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A zoo sign differs from a scientific report — same content, different language choices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3063240"/>
            <a:ext cx="8595360" cy="868680"/>
          </a:xfrm>
          <a:prstGeom prst="rect">
            <a:avLst/>
          </a:prstGeom>
          <a:solidFill>
            <a:srgbClr val="0A2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74320" y="3063240"/>
            <a:ext cx="54864" cy="86868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3172968"/>
            <a:ext cx="82296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Identify: purpose (inform / persuade / entertain / instruct) and audience for each text type at Taronga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4320" y="4069080"/>
            <a:ext cx="8595360" cy="868680"/>
          </a:xfrm>
          <a:prstGeom prst="rect">
            <a:avLst/>
          </a:prstGeom>
          <a:solidFill>
            <a:srgbClr val="0A2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74320" y="4069080"/>
            <a:ext cx="54864" cy="86868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4178808"/>
            <a:ext cx="82296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How does audience shape vocabulary, sentence length, and tone?</a:t>
            </a:r>
          </a:p>
        </p:txBody>
      </p:sp>
      <p:sp>
        <p:nvSpPr>
          <p:cNvPr id="18" name="Rectangle 17"/>
          <p:cNvSpPr/>
          <p:nvPr/>
        </p:nvSpPr>
        <p:spPr>
          <a:xfrm>
            <a:off x="0" y="6583680"/>
            <a:ext cx="9144000" cy="274320"/>
          </a:xfrm>
          <a:prstGeom prst="rect">
            <a:avLst/>
          </a:prstGeom>
          <a:solidFill>
            <a:srgbClr val="1A5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9144000" cy="777240"/>
          </a:xfrm>
          <a:prstGeom prst="rect">
            <a:avLst/>
          </a:prstGeom>
          <a:solidFill>
            <a:srgbClr val="1A5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64592"/>
            <a:ext cx="8229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Calibri"/>
              </a:rPr>
              <a:t>LANGUAGE ANALYSIS FRAMEWORK (TEEL)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0" y="182880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A8C4B2"/>
                </a:solidFill>
                <a:latin typeface="Calibri"/>
              </a:rPr>
              <a:t>5 / 10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051560"/>
            <a:ext cx="8595360" cy="868680"/>
          </a:xfrm>
          <a:prstGeom prst="rect">
            <a:avLst/>
          </a:prstGeom>
          <a:solidFill>
            <a:srgbClr val="0A2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1051560"/>
            <a:ext cx="54864" cy="86868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161288"/>
            <a:ext cx="82296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Topic sentence: clear analytical claim about the text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2057400"/>
            <a:ext cx="8595360" cy="868680"/>
          </a:xfrm>
          <a:prstGeom prst="rect">
            <a:avLst/>
          </a:prstGeom>
          <a:solidFill>
            <a:srgbClr val="0A2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74320" y="2057400"/>
            <a:ext cx="54864" cy="86868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2167128"/>
            <a:ext cx="82296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Evidence: quote or specific reference to the text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3063240"/>
            <a:ext cx="8595360" cy="868680"/>
          </a:xfrm>
          <a:prstGeom prst="rect">
            <a:avLst/>
          </a:prstGeom>
          <a:solidFill>
            <a:srgbClr val="0A2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74320" y="3063240"/>
            <a:ext cx="54864" cy="86868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3172968"/>
            <a:ext cx="82296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Explanation: unpack the language choice and its effect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4320" y="4069080"/>
            <a:ext cx="8595360" cy="868680"/>
          </a:xfrm>
          <a:prstGeom prst="rect">
            <a:avLst/>
          </a:prstGeom>
          <a:solidFill>
            <a:srgbClr val="0A2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74320" y="4069080"/>
            <a:ext cx="54864" cy="86868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4178808"/>
            <a:ext cx="82296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Link: connect back to the overall argument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5074920"/>
            <a:ext cx="8595360" cy="868680"/>
          </a:xfrm>
          <a:prstGeom prst="rect">
            <a:avLst/>
          </a:prstGeom>
          <a:solidFill>
            <a:srgbClr val="0A2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74320" y="5074920"/>
            <a:ext cx="54864" cy="86868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7200" y="5184648"/>
            <a:ext cx="82296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Practice: analyse one sentence from a zoo conservation campaign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0" y="6583680"/>
            <a:ext cx="9144000" cy="274320"/>
          </a:xfrm>
          <a:prstGeom prst="rect">
            <a:avLst/>
          </a:prstGeom>
          <a:solidFill>
            <a:srgbClr val="1A5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9144000" cy="777240"/>
          </a:xfrm>
          <a:prstGeom prst="rect">
            <a:avLst/>
          </a:prstGeom>
          <a:solidFill>
            <a:srgbClr val="1A5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64592"/>
            <a:ext cx="8229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Calibri"/>
              </a:rPr>
              <a:t>FIGURATIVE LANGUAGE FOR EFFECT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0" y="182880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A8C4B2"/>
                </a:solidFill>
                <a:latin typeface="Calibri"/>
              </a:rPr>
              <a:t>6 / 10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051560"/>
            <a:ext cx="8595360" cy="868680"/>
          </a:xfrm>
          <a:prstGeom prst="rect">
            <a:avLst/>
          </a:prstGeom>
          <a:solidFill>
            <a:srgbClr val="0A2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1051560"/>
            <a:ext cx="54864" cy="86868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161288"/>
            <a:ext cx="82296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Metaphor: "The tiger is a ghost in the grass"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2057400"/>
            <a:ext cx="8595360" cy="868680"/>
          </a:xfrm>
          <a:prstGeom prst="rect">
            <a:avLst/>
          </a:prstGeom>
          <a:solidFill>
            <a:srgbClr val="0A2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74320" y="2057400"/>
            <a:ext cx="54864" cy="86868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2167128"/>
            <a:ext cx="82296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Personification: "The forest mourns its lost inhabitants"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3063240"/>
            <a:ext cx="8595360" cy="868680"/>
          </a:xfrm>
          <a:prstGeom prst="rect">
            <a:avLst/>
          </a:prstGeom>
          <a:solidFill>
            <a:srgbClr val="0A2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74320" y="3063240"/>
            <a:ext cx="54864" cy="86868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3172968"/>
            <a:ext cx="82296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Alliteration, assonance, imagery — all create emotional effect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4320" y="4069080"/>
            <a:ext cx="8595360" cy="868680"/>
          </a:xfrm>
          <a:prstGeom prst="rect">
            <a:avLst/>
          </a:prstGeom>
          <a:solidFill>
            <a:srgbClr val="0A2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74320" y="4069080"/>
            <a:ext cx="54864" cy="86868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4178808"/>
            <a:ext cx="82296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At the zoo: collect examples of figurative language from signs, videos, keeper cards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0" y="6583680"/>
            <a:ext cx="9144000" cy="274320"/>
          </a:xfrm>
          <a:prstGeom prst="rect">
            <a:avLst/>
          </a:prstGeom>
          <a:solidFill>
            <a:srgbClr val="1A5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9144000" cy="777240"/>
          </a:xfrm>
          <a:prstGeom prst="rect">
            <a:avLst/>
          </a:prstGeom>
          <a:solidFill>
            <a:srgbClr val="1A5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64592"/>
            <a:ext cx="8229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Calibri"/>
              </a:rPr>
              <a:t>FIRST-PERSON OBSERVATION AS TEXT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0" y="182880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A8C4B2"/>
                </a:solidFill>
                <a:latin typeface="Calibri"/>
              </a:rPr>
              <a:t>7 / 10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051560"/>
            <a:ext cx="8595360" cy="868680"/>
          </a:xfrm>
          <a:prstGeom prst="rect">
            <a:avLst/>
          </a:prstGeom>
          <a:solidFill>
            <a:srgbClr val="0A2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1051560"/>
            <a:ext cx="54864" cy="86868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161288"/>
            <a:ext cx="82296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Your Tracka observation is a TEXT — written with a purpose and audience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2057400"/>
            <a:ext cx="8595360" cy="868680"/>
          </a:xfrm>
          <a:prstGeom prst="rect">
            <a:avLst/>
          </a:prstGeom>
          <a:solidFill>
            <a:srgbClr val="0A2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74320" y="2057400"/>
            <a:ext cx="54864" cy="86868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2167128"/>
            <a:ext cx="82296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Analysing your own writing: what language choices did YOU make?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3063240"/>
            <a:ext cx="8595360" cy="868680"/>
          </a:xfrm>
          <a:prstGeom prst="rect">
            <a:avLst/>
          </a:prstGeom>
          <a:solidFill>
            <a:srgbClr val="0A2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74320" y="3063240"/>
            <a:ext cx="54864" cy="86868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3172968"/>
            <a:ext cx="82296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Effective observation writing uses specific nouns, active verbs, sensory detail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4320" y="4069080"/>
            <a:ext cx="8595360" cy="868680"/>
          </a:xfrm>
          <a:prstGeom prst="rect">
            <a:avLst/>
          </a:prstGeom>
          <a:solidFill>
            <a:srgbClr val="0A2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74320" y="4069080"/>
            <a:ext cx="54864" cy="86868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4178808"/>
            <a:ext cx="82296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Today: treat your Tracka observation as primary evidence for an English essay</a:t>
            </a:r>
          </a:p>
        </p:txBody>
      </p:sp>
      <p:sp>
        <p:nvSpPr>
          <p:cNvPr id="18" name="Rectangle 17"/>
          <p:cNvSpPr/>
          <p:nvPr/>
        </p:nvSpPr>
        <p:spPr>
          <a:xfrm>
            <a:off x="0" y="6583680"/>
            <a:ext cx="9144000" cy="274320"/>
          </a:xfrm>
          <a:prstGeom prst="rect">
            <a:avLst/>
          </a:prstGeom>
          <a:solidFill>
            <a:srgbClr val="1A5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1A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9144000" cy="100584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37160"/>
            <a:ext cx="82296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71E14"/>
                </a:solidFill>
                <a:latin typeface="Calibri"/>
              </a:rPr>
              <a:t>🧠  BRAIN BREAK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1325880"/>
            <a:ext cx="8595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D97706"/>
                </a:solidFill>
                <a:latin typeface="Calibri"/>
              </a:rPr>
              <a:t>CONSERVATION COUNTDOWN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2011680"/>
            <a:ext cx="8595360" cy="2560320"/>
          </a:xfrm>
          <a:prstGeom prst="rect">
            <a:avLst/>
          </a:prstGeom>
          <a:solidFill>
            <a:srgbClr val="0A2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2011680"/>
            <a:ext cx="91440" cy="256032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2148840"/>
            <a:ext cx="81381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  <a:latin typeface="Calibri"/>
              </a:rPr>
              <a:t>Stand up! Call out one fact about any Taronga animal. Sit down once you've shared. Keep going until everyone is seated.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4754880"/>
            <a:ext cx="8595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88AA77"/>
                </a:solidFill>
                <a:latin typeface="Calibri"/>
              </a:rPr>
              <a:t>⏱  Allow 3–5 minutes  ·  Everyone participates!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583680"/>
            <a:ext cx="9144000" cy="274320"/>
          </a:xfrm>
          <a:prstGeom prst="rect">
            <a:avLst/>
          </a:prstGeom>
          <a:solidFill>
            <a:srgbClr val="1A5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9144000" cy="914400"/>
          </a:xfrm>
          <a:prstGeom prst="rect">
            <a:avLst/>
          </a:prstGeom>
          <a:solidFill>
            <a:srgbClr val="1A5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82880"/>
            <a:ext cx="85039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PLANNING SESSION — Getting Ready for the Zoo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1188720"/>
            <a:ext cx="8595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D97706"/>
                </a:solidFill>
                <a:latin typeface="Calibri"/>
              </a:rPr>
              <a:t>Your Mission at Taronga Zoo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1645920"/>
            <a:ext cx="8595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Analysing the language of zoo conservation materials; using first-person observation as primary text for analytical writing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2377440"/>
            <a:ext cx="8595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7C3AED"/>
                </a:solidFill>
                <a:latin typeface="Calibri"/>
              </a:rPr>
              <a:t>Planning Checklist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2834640"/>
            <a:ext cx="457200" cy="502920"/>
          </a:xfrm>
          <a:prstGeom prst="rect">
            <a:avLst/>
          </a:prstGeom>
          <a:solidFill>
            <a:srgbClr val="0A2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01752" y="2880360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7C3AED"/>
                </a:solidFill>
                <a:latin typeface="Calibri"/>
              </a:rPr>
              <a:t>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898648"/>
            <a:ext cx="8046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Choose the animals you most want to observe — write them down now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3566160"/>
            <a:ext cx="457200" cy="502920"/>
          </a:xfrm>
          <a:prstGeom prst="rect">
            <a:avLst/>
          </a:prstGeom>
          <a:solidFill>
            <a:srgbClr val="0A2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01752" y="3611880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7C3AED"/>
                </a:solidFill>
                <a:latin typeface="Calibri"/>
              </a:rPr>
              <a:t>☐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3630168"/>
            <a:ext cx="8046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What specific thing will you look for at each animal? (behaviour / feature / data)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4320" y="4297680"/>
            <a:ext cx="457200" cy="502920"/>
          </a:xfrm>
          <a:prstGeom prst="rect">
            <a:avLst/>
          </a:prstGeom>
          <a:solidFill>
            <a:srgbClr val="0A2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01752" y="4343400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7C3AED"/>
                </a:solidFill>
                <a:latin typeface="Calibri"/>
              </a:rPr>
              <a:t>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4361688"/>
            <a:ext cx="8046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Which prior knowledge from English can you connect to each animal?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4320" y="5029200"/>
            <a:ext cx="457200" cy="502920"/>
          </a:xfrm>
          <a:prstGeom prst="rect">
            <a:avLst/>
          </a:prstGeom>
          <a:solidFill>
            <a:srgbClr val="0A2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01752" y="5074920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7C3AED"/>
                </a:solidFill>
                <a:latin typeface="Calibri"/>
              </a:rPr>
              <a:t>☐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5093208"/>
            <a:ext cx="8046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How will you earn maximum points? (read the scoring guide on the next slide)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0" y="6583680"/>
            <a:ext cx="9144000" cy="274320"/>
          </a:xfrm>
          <a:prstGeom prst="rect">
            <a:avLst/>
          </a:prstGeom>
          <a:solidFill>
            <a:srgbClr val="1A5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9144000" cy="914400"/>
          </a:xfrm>
          <a:prstGeom prst="rect">
            <a:avLst/>
          </a:prstGeom>
          <a:solidFill>
            <a:srgbClr val="1A14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82880"/>
            <a:ext cx="8229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D97706"/>
                </a:solidFill>
                <a:latin typeface="Calibri"/>
              </a:rPr>
              <a:t>🎫  EXIT TICKET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234440"/>
            <a:ext cx="8595360" cy="1691640"/>
          </a:xfrm>
          <a:prstGeom prst="rect">
            <a:avLst/>
          </a:prstGeom>
          <a:solidFill>
            <a:srgbClr val="0A2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" y="1234440"/>
            <a:ext cx="73152" cy="169164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38912" y="1371600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D97706"/>
                </a:solidFill>
                <a:latin typeface="Calibri"/>
              </a:rPr>
              <a:t>Q1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417320"/>
            <a:ext cx="81381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Identify the language technique and explain its effect: "The last tiger paces in a shrinking world, its amber eyes searching for what no longer exists."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3154680"/>
            <a:ext cx="8595360" cy="1691640"/>
          </a:xfrm>
          <a:prstGeom prst="rect">
            <a:avLst/>
          </a:prstGeom>
          <a:solidFill>
            <a:srgbClr val="0A2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74320" y="3154680"/>
            <a:ext cx="73152" cy="169164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8912" y="3291840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D97706"/>
                </a:solidFill>
                <a:latin typeface="Calibri"/>
              </a:rPr>
              <a:t>Q2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3337560"/>
            <a:ext cx="81381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Write a TEEL topic sentence for an essay arguing that conservation language is deliberately emotive.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4320" y="6035040"/>
            <a:ext cx="8595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88AA77"/>
                </a:solidFill>
                <a:latin typeface="Calibri"/>
              </a:rPr>
              <a:t>Hand in before leaving for the zoo — or submit via your teacher's instructions.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0" y="6583680"/>
            <a:ext cx="9144000" cy="274320"/>
          </a:xfrm>
          <a:prstGeom prst="rect">
            <a:avLst/>
          </a:prstGeom>
          <a:solidFill>
            <a:srgbClr val="1A5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82880" y="6601968"/>
            <a:ext cx="87782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558866"/>
                </a:solidFill>
                <a:latin typeface="Calibri"/>
              </a:rPr>
              <a:t>taronga.org.au  ·  TARONGA TRACKA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