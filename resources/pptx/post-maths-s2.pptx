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0" y="0"/>
            <a:ext cx="2286000" cy="182880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03720" y="9144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MATHEMATICS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03720" y="50292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STAGE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03720" y="109728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8C4B2"/>
                </a:solidFill>
                <a:latin typeface="Calibri"/>
              </a:rPr>
              <a:t>POST-VISIT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6035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Data, Measurement &amp; Patterns
After the Zoo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918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369A1"/>
                </a:solidFill>
                <a:latin typeface="Calibri"/>
              </a:rPr>
              <a:t>TARONGA TRACKA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AA99"/>
                </a:solidFill>
                <a:latin typeface="Calibri"/>
              </a:rPr>
              <a:t>NSW Outcomes: MA2-DATA-01  ·  MA2-GM-02  ·  MA2-RN-01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160520"/>
            <a:ext cx="7863840" cy="22860"/>
          </a:xfrm>
          <a:prstGeom prst="rect">
            <a:avLst/>
          </a:prstGeom>
          <a:solidFill>
            <a:srgbClr val="2E7D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29768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8C4B2"/>
                </a:solidFill>
                <a:latin typeface="Calibri"/>
              </a:rPr>
              <a:t>Consolidate learning after the Taronga excursion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" y="6601968"/>
            <a:ext cx="8778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AA99"/>
                </a:solidFill>
                <a:latin typeface="Calibri"/>
              </a:rPr>
              <a:t>taronga.org.au  ·  tarongatracka.com.au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82296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8595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LEARNING INTENTION &amp; SUCCESS CRITERIA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8595360" cy="1371600"/>
          </a:xfrm>
          <a:prstGeom prst="rect">
            <a:avLst/>
          </a:prstGeom>
          <a:solidFill>
            <a:srgbClr val="0E2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73152" cy="137160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369A1"/>
                </a:solidFill>
                <a:latin typeface="Calibri"/>
              </a:rPr>
              <a:t>LEARNING INTENTION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Collect, organise and display data from real-world animal observations and identify number and measurement patterns.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26974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97706"/>
                </a:solidFill>
                <a:latin typeface="Calibri"/>
              </a:rPr>
              <a:t>SUCCESS CRITERIA — I can...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3108960"/>
            <a:ext cx="8595360" cy="68580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3108960"/>
            <a:ext cx="73152" cy="68580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3218688"/>
            <a:ext cx="320040" cy="32004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3200400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0040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I can create a tally chart and column graph from zoo data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931920"/>
            <a:ext cx="8595360" cy="68580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3931920"/>
            <a:ext cx="73152" cy="68580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1480" y="4041648"/>
            <a:ext cx="320040" cy="32004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8" y="4023359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023359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I can measure and compare lengths and masses using formal units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4754880"/>
            <a:ext cx="8595360" cy="68580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4320" y="4754880"/>
            <a:ext cx="73152" cy="68580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4864608"/>
            <a:ext cx="320040" cy="32004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9768" y="4846320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4632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I can identify and continue a number pattern, explaining the rule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926080" y="914400"/>
            <a:ext cx="3291840" cy="256032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69080" y="137160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0" i="0">
                <a:solidFill>
                  <a:srgbClr val="0369A1"/>
                </a:solidFill>
                <a:latin typeface="Calibri"/>
              </a:rPr>
              <a:t>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6118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VIDEO PLACEHOLDER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6052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A8C4B2"/>
                </a:solidFill>
                <a:latin typeface="Calibri"/>
              </a:rPr>
              <a:t>Insert a short clip reviewing the animals students observed at the zoo.
Suggested: student video from the visit, Taronga social media, or conservation documentary.
Aim for 2–4 minutes — use as a reflection anchor.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52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58866"/>
                </a:solidFill>
                <a:latin typeface="Calibri"/>
              </a:rPr>
              <a:t>Teacher note: embed your chosen video directly into this slide before presenting.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77724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6459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OUR CLASS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8288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8C4B2"/>
                </a:solidFill>
                <a:latin typeface="Calibri"/>
              </a:rPr>
              <a:t>4 / 9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5156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51560"/>
            <a:ext cx="54864" cy="86868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16128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Let's combine all our Tracka observation counts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05740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2057400"/>
            <a:ext cx="54864" cy="86868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6712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Which animal did the class observe most? Least?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06324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3063240"/>
            <a:ext cx="54864" cy="86868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17296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Create a class column graph on the whiteboard together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406908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069080"/>
            <a:ext cx="54864" cy="86868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17880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What questions could a zoo scientist answer using this data?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77724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6459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MEASUREMENT DISCOVERIES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8288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8C4B2"/>
                </a:solidFill>
                <a:latin typeface="Calibri"/>
              </a:rPr>
              <a:t>5 / 9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5156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51560"/>
            <a:ext cx="54864" cy="86868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16128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What was the biggest animal you saw? How do we know?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05740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2057400"/>
            <a:ext cx="54864" cy="86868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6712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Compare: a giraffe is 5.5 metres tall. How many of you stacked up?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06324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3063240"/>
            <a:ext cx="54864" cy="86868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17296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Distance challenge: using the zoo map, calculate which two enclosures are furthest apart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406908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069080"/>
            <a:ext cx="54864" cy="86868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17880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Record your working — show how you found the answer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77724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6459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PATTERNS IN ANIMAL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8288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8C4B2"/>
                </a:solidFill>
                <a:latin typeface="Calibri"/>
              </a:rPr>
              <a:t>6 / 9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5156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51560"/>
            <a:ext cx="54864" cy="86868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16128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Look at your Tracka points — is there a pattern in what scored highest?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05740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2057400"/>
            <a:ext cx="54864" cy="86868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6712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Can you find a number pattern in animal facts? (teeth, legs, years in captivity)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06324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3063240"/>
            <a:ext cx="54864" cy="86868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17296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Create a two-step number pattern using an animal fact as your starting number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A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10058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37160"/>
            <a:ext cx="8229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71E14"/>
                </a:solidFill>
                <a:latin typeface="Calibri"/>
              </a:rPr>
              <a:t>🧠  BRAIN BREAK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325880"/>
            <a:ext cx="8595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D97706"/>
                </a:solidFill>
                <a:latin typeface="Calibri"/>
              </a:rPr>
              <a:t>ANIMAL CHARADES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2011680"/>
            <a:ext cx="8595360" cy="256032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2011680"/>
            <a:ext cx="91440" cy="2560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48840"/>
            <a:ext cx="81381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Split into pairs. One person acts out an animal from Taronga Zoo — no sounds! Can your partner guess in 30 seconds?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75488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88AA77"/>
                </a:solidFill>
                <a:latin typeface="Calibri"/>
              </a:rPr>
              <a:t>⏱  Allow 3–5 minutes  ·  Everyone participates!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91440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82880"/>
            <a:ext cx="8503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ACTION PROJECT — Apply Your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188720"/>
            <a:ext cx="8595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D97706"/>
                </a:solidFill>
                <a:latin typeface="Calibri"/>
              </a:rPr>
              <a:t>Animal Data Poster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691640"/>
            <a:ext cx="8595360" cy="274320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691640"/>
            <a:ext cx="73152" cy="274320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83080"/>
            <a:ext cx="81381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Choose 4 animals from your Taronga visit. Create a data poster showing: a tally chart of their features (eg. number of legs, type of food), a column or picture graph comparing a measurement (height, mass, or lifespan), and one number pattern you found in the data. Present your poster to the class and explain what your data shows.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61772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88AA77"/>
                </a:solidFill>
                <a:latin typeface="Calibri"/>
              </a:rPr>
              <a:t>Project formats: Poster · Video · Model · Report · Presentation · Campaign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914400"/>
          </a:xfrm>
          <a:prstGeom prst="rect">
            <a:avLst/>
          </a:prstGeom>
          <a:solidFill>
            <a:srgbClr val="1A14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82880"/>
            <a:ext cx="8229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D97706"/>
                </a:solidFill>
                <a:latin typeface="Calibri"/>
              </a:rPr>
              <a:t>🎫  EXIT TICKET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34440"/>
            <a:ext cx="8595360" cy="169164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234440"/>
            <a:ext cx="73152" cy="1691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137160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97706"/>
                </a:solidFill>
                <a:latin typeface="Calibri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8138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Write one thing you measured or counted at the zoo. Show this as a number sentence.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3154680"/>
            <a:ext cx="8595360" cy="169164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3154680"/>
            <a:ext cx="73152" cy="1691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" y="329184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97706"/>
                </a:solidFill>
                <a:latin typeface="Calibri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337560"/>
            <a:ext cx="8138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Can you continue this pattern? 5, 10, 20, 40, _____, _____  What's the rule?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603504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AA77"/>
                </a:solidFill>
                <a:latin typeface="Calibri"/>
              </a:rPr>
              <a:t>Hand in before leaving class — or submit digitally as directed by your teacher.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2880" y="6601968"/>
            <a:ext cx="8778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58866"/>
                </a:solidFill>
                <a:latin typeface="Calibri"/>
              </a:rPr>
              <a:t>taronga.org.au  ·  TARONGA TRACKA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