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0"/>
            <a:ext cx="2286000" cy="18288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03720" y="914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MATHEMATICS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5029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STAGE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09728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C4B2"/>
                </a:solidFill>
                <a:latin typeface="Calibri"/>
              </a:rPr>
              <a:t>PRE-VISIT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6035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Statistical Analysis, Modelling &amp; Probability
Before the Zoo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369A1"/>
                </a:solidFill>
                <a:latin typeface="Calibri"/>
              </a:rPr>
              <a:t>TARONGA TRACKA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99"/>
                </a:solidFill>
                <a:latin typeface="Calibri"/>
              </a:rPr>
              <a:t>NSW Outcomes: MA5-DAT-C-01  ·  MA5-PRO-C-01  ·  MA5-ALG-C-01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60520"/>
            <a:ext cx="7863840" cy="22860"/>
          </a:xfrm>
          <a:prstGeom prst="rect">
            <a:avLst/>
          </a:prstGeom>
          <a:solidFill>
            <a:srgbClr val="2E7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C4B2"/>
                </a:solidFill>
                <a:latin typeface="Calibri"/>
              </a:rPr>
              <a:t>Prepare students for their Taronga excursion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AA99"/>
                </a:solidFill>
                <a:latin typeface="Calibri"/>
              </a:rPr>
              <a:t>taronga.org.au  ·  tarongatracka.com.au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82296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LEARNING INTENTION &amp; SUCCESS CRITERIA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371600"/>
          </a:xfrm>
          <a:prstGeom prst="rect">
            <a:avLst/>
          </a:prstGeom>
          <a:solidFill>
            <a:srgbClr val="0E2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73152" cy="13716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369A1"/>
                </a:solidFill>
                <a:latin typeface="Calibri"/>
              </a:rPr>
              <a:t>LEARNING INTENTION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Apply bivariate data analysis, exponential modelling and compound probability to evaluate real-world conservation outcomes with mathematical rigour.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697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SUCCESS CRITERIA — I can...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10896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3108960"/>
            <a:ext cx="73152" cy="6858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3218688"/>
            <a:ext cx="320040" cy="32004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32004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004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construct a scatter plot, determine correlation and interpret a regression equation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3192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3931920"/>
            <a:ext cx="73152" cy="6858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041648"/>
            <a:ext cx="320040" cy="32004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4023359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23359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build and solve exponential population models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75488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754880"/>
            <a:ext cx="73152" cy="6858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864608"/>
            <a:ext cx="320040" cy="32004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" y="48463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463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calculate compound probability and apply it to multi-stage conservation scenarios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26080" y="914400"/>
            <a:ext cx="329184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9080" y="137160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0369A1"/>
                </a:solidFill>
                <a:latin typeface="Calibri"/>
              </a:rPr>
              <a:t>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11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VIDEO PLACEHOLDER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60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8C4B2"/>
                </a:solidFill>
                <a:latin typeface="Calibri"/>
              </a:rPr>
              <a:t>Insert a short clip introducing the animals students will observe on the excursion.
Suggested: Taronga keeper video, National Geographic clip, or animal documentary excerpt.
Aim for 2–4 minutes — pause at key moments to discuss.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52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8866"/>
                </a:solidFill>
                <a:latin typeface="Calibri"/>
              </a:rPr>
              <a:t>Teacher note: embed your chosen video directly into this slide before presenting.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BIVARIATE DATA AND 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Scatter plots show relationships between two variables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Correlation: positive, negative, or no correlation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Line of best fit (least squares regression) — equation y = mx + 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Dataset: time spent observing (x) vs Tracka score (y) — predict the correlation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EXPONENTIAL MODELS IN ECOLOGY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5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Population models: P(t) = P₀ × e^(rt)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If r &lt; 0: population decline (endangered species scenario)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Sumatran Tiger: ~600 in 1990, ~400 in 2024. Find the rate 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Project: if decline continues at this rate, when does population reach 100?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COMPOUND PROBABILITY IN CONSERVATION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P(A ∩ B) = P(A) × P(B) for independent events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P(A ∪ B) = P(A) + P(B) − P(A ∩ B)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Conservation scenario: P(captive breeding succeeds) = 0.7, P(habitat protected) = 0.4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Calculate: P(species survives) assuming both are needed. What if either alone is sufficient?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DATA COLLECTION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7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At Taronga, you will collect bivariate data: time × score, detail × writing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Record all variables precisely — we will run a regression analysis after the visit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Think about: what extraneous variables might affect your results?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Design a simple data collection sheet for your zoo visit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71E14"/>
                </a:solidFill>
                <a:latin typeface="Calibri"/>
              </a:rPr>
              <a:t>🧠  BRAIN BREAK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2588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ANIMAL ALPHABET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011680"/>
            <a:ext cx="859536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2011680"/>
            <a:ext cx="91440" cy="2560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8138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Starting from A, take turns naming an animal. Skip a letter and you're out! How far can the class get?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8AA77"/>
                </a:solidFill>
                <a:latin typeface="Calibri"/>
              </a:rPr>
              <a:t>⏱  Allow 3–5 minutes  ·  Everyone participates!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PLANNING SESSION — Getting Ready for the Zoo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Your Mission at Taronga Zoo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4592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Bivariate data analysis of observation scores, modelling exponential population decline, probability of conservation success scenarios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369A1"/>
                </a:solidFill>
                <a:latin typeface="Calibri"/>
              </a:rPr>
              <a:t>Planning Checklist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83464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" y="28803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369A1"/>
                </a:solidFill>
                <a:latin typeface="Calibri"/>
              </a:rP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9864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Choose the animals you most want to observe — write them down now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56616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361188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369A1"/>
                </a:solidFill>
                <a:latin typeface="Calibri"/>
              </a:rPr>
              <a:t>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3016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What specific thing will you look for at each animal? (behaviour / feature / data)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29768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52" y="43434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369A1"/>
                </a:solidFill>
                <a:latin typeface="Calibri"/>
              </a:rP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36168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Which prior knowledge from Mathematics can you connect to each animal?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02920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752" y="5074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369A1"/>
                </a:solidFill>
                <a:latin typeface="Calibri"/>
              </a:rPr>
              <a:t>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9320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How will you earn maximum points? (read the scoring guide on the next slide)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1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D97706"/>
                </a:solidFill>
                <a:latin typeface="Calibri"/>
              </a:rPr>
              <a:t>🎫  EXIT TICKET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716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 population follows P(t) = 600 × 0.94^t. What is the population after 10 years? When will it fall below 200?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315468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32918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3756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Two conservation events are independent: P(A) = 0.6, P(B) = 0.7. Find P(A and B) and P(A or B).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035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AA77"/>
                </a:solidFill>
                <a:latin typeface="Calibri"/>
              </a:rPr>
              <a:t>Hand in before leaving for the zoo — or submit via your teacher's instructions.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8866"/>
                </a:solidFill>
                <a:latin typeface="Calibri"/>
              </a:rPr>
              <a:t>taronga.org.au  ·  TARONGA TRACKA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