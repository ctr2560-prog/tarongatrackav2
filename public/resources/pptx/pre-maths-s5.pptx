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903720" y="9144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MATHEMATICS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50292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STAGE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720" y="109728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8C4B2"/>
                </a:solidFill>
                <a:latin typeface="Calibri"/>
              </a:rPr>
              <a:t>PRE-VISIT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6035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Statistical Analysis, Modelling &amp; Probability
Before the Zoo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369A1"/>
                </a:solidFill>
                <a:latin typeface="Calibri"/>
              </a:rPr>
              <a:t>TARONGA TRACKA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49039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AA99"/>
                </a:solidFill>
                <a:latin typeface="Calibri"/>
              </a:rPr>
              <a:t>NSW Outcomes: MA5-DAT-C-01  ·  MA5-PRO-C-01  ·  MA5-ALG-C-01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160520"/>
            <a:ext cx="7863840" cy="22860"/>
          </a:xfrm>
          <a:prstGeom prst="rect">
            <a:avLst/>
          </a:prstGeom>
          <a:solidFill>
            <a:srgbClr val="2E7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C4B2"/>
                </a:solidFill>
                <a:latin typeface="Calibri"/>
              </a:rPr>
              <a:t>Prepare students for their Taronga excursion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88AA99"/>
                </a:solidFill>
                <a:latin typeface="Calibri"/>
              </a:rPr>
              <a:t>taronga.org.au  ·  tarongatracka.com.au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82296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3716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LEARNING INTENTION &amp; SUCCESS CRITERIA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097280"/>
            <a:ext cx="8595360" cy="1371600"/>
          </a:xfrm>
          <a:prstGeom prst="rect">
            <a:avLst/>
          </a:prstGeom>
          <a:solidFill>
            <a:srgbClr val="0E2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097280"/>
            <a:ext cx="73152" cy="13716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43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369A1"/>
                </a:solidFill>
                <a:latin typeface="Calibri"/>
              </a:rPr>
              <a:t>LEARNING INTENTION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Apply bivariate data analysis, exponential modelling and compound probability to evaluate real-world conservation outcomes with mathematical rigour.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697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Calibri"/>
              </a:rPr>
              <a:t>SUCCESS CRITERIA — I can...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10896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310896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321868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" y="320040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2004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construct a scatter plot, determine correlation and interpret a regression equation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93192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4164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" y="4023359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23359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build and solve exponential population models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754880"/>
            <a:ext cx="8595360" cy="68580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4754880"/>
            <a:ext cx="73152" cy="6858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864608"/>
            <a:ext cx="320040" cy="3200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9768" y="484632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484632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I can calculate compound probability and apply it to multi-stage conservation scenarios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10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926080" y="914400"/>
            <a:ext cx="329184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69080" y="137160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 i="0">
                <a:solidFill>
                  <a:srgbClr val="0369A1"/>
                </a:solidFill>
                <a:latin typeface="Calibri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611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VIDEO PLACEHOLDER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605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8C4B2"/>
                </a:solidFill>
                <a:latin typeface="Calibri"/>
              </a:rPr>
              <a:t>Insert a short clip introducing the animals students will observe today.
Suggested: Taronga keeper video, National Geographic clip, or animal documentary excerpt.
Aim for 2–4 minutes — pause at key moments to discuss.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58866"/>
                </a:solidFill>
                <a:latin typeface="Calibri"/>
              </a:rPr>
              <a:t>Teacher note: embed your chosen video directly into this slide before presenting.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BIVARIATE DATA AND 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4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Scatter plots show relationships between two variables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Correlation: positive, negative, or no correlation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Line of best fit (least squares regression) — equation y = mx + 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Dataset: time spent observing (x) vs Tracka score (y) — predict the correlation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EXPONENTIAL MODELS IN ECOLOGY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5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Population models: P(t) = P₀ × e^(rt)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If r &lt; 0: population decline (endangered species scenario)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Sumatran Tiger: ~600 in 1990, ~400 in 2024. Find the rate 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Project: if decline continues at this rate, when does population reach 100?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COMPOUND PROBABILITY IN CONSERVATION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6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P(A ∩ B) = P(A) × P(B) for independent events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P(A ∪ B) = P(A) + P(B) − P(A ∩ 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Conservation scenario: P(captive breeding succeeds) = 0.7, P(habitat protected) = 0.4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Calculate: P(species survives) assuming both are needed. What if either alone is sufficient?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77724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DATA COLLECTION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18288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8C4B2"/>
                </a:solidFill>
                <a:latin typeface="Calibri"/>
              </a:rPr>
              <a:t>7 / 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05156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05156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6128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At Taronga, you will collect bivariate data: time × score, detail × writing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05740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205740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Record all variables precisely — we will run a regression analysis after the visit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06324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" y="306324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17296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Think about: what extraneous variables might affect your results?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069080"/>
            <a:ext cx="8595360" cy="86868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069080"/>
            <a:ext cx="54864" cy="86868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178808"/>
            <a:ext cx="8229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Design a simple data collection sheet for your zoo visit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A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10058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3716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71E14"/>
                </a:solidFill>
                <a:latin typeface="Calibri"/>
              </a:rPr>
              <a:t>🧠  BRAIN BREAK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97706"/>
                </a:solidFill>
                <a:latin typeface="Calibri"/>
              </a:rPr>
              <a:t>ANIMAL ALPHABET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2011680"/>
            <a:ext cx="8595360" cy="25603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2011680"/>
            <a:ext cx="91440" cy="25603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48840"/>
            <a:ext cx="8138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Starting from A, take turns naming an animal. Skip a letter and you're out! How far can the class get?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88AA77"/>
                </a:solidFill>
                <a:latin typeface="Calibri"/>
              </a:rPr>
              <a:t>⏱  Allow 3–5 minutes  ·  Everyone participates!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PLANNING SESSION — Getting Ready for the Zoo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Your Mission at Taronga Zoo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64592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Bivariate data analysis of observation scores, modelling exponential population decline, probability of conservation success scenarios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3774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369A1"/>
                </a:solidFill>
                <a:latin typeface="Calibri"/>
              </a:rPr>
              <a:t>Planning Checklist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83464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1752" y="28803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9864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Choose the animals you most want to observe — write them down now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56616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" y="361188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63016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What specific thing will you look for at each animal? (behaviour / feature / data)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9768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" y="43434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36168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Which prior knowledge from Mathematics can you connect to each animal?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029200"/>
            <a:ext cx="457200" cy="50292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0369A1"/>
                </a:solidFill>
                <a:latin typeface="Calibri"/>
              </a:rPr>
              <a:t>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093208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How will you earn maximum points? (read the scoring guide on the next slide)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9144000" cy="914400"/>
          </a:xfrm>
          <a:prstGeom prst="rect">
            <a:avLst/>
          </a:prstGeom>
          <a:solidFill>
            <a:srgbClr val="1A14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229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97706"/>
                </a:solidFill>
                <a:latin typeface="Calibri"/>
              </a:rPr>
              <a:t>🎫  EXIT TICKET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23444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3716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1732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A population follows P(t) = 600 × 0.94^t. What is the population after 10 years? When will it fall below 200?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0A2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3154680"/>
            <a:ext cx="73152" cy="1691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329184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97706"/>
                </a:solidFill>
                <a:latin typeface="Calibri"/>
              </a:rPr>
              <a:t>Q2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8138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Two conservation events are independent: P(A) = 0.6, P(B) = 0.7. Find P(A and B) and P(A or B).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0350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AA77"/>
                </a:solidFill>
                <a:latin typeface="Calibri"/>
              </a:rPr>
              <a:t>Hand in before leaving for the zoo — or submit via your teacher's instructions.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1A5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6601968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8866"/>
                </a:solidFill>
                <a:latin typeface="Calibri"/>
              </a:rPr>
              <a:t>taronga.org.au  ·  TARONGA TRACKA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