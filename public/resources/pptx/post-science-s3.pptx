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2286000" cy="18288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03720" y="91440"/>
            <a:ext cx="2148840" cy="457200"/>
          </a:xfrm>
          <a:prstGeom prst="rect">
            <a:avLst/>
          </a:prstGeom>
          <a:noFill/>
        </p:spPr>
        <p:txBody>
          <a:bodyPr wrap="square">
            <a:spAutoFit/>
          </a:bodyPr>
          <a:lstStyle/>
          <a:p>
            <a:pPr algn="l"/>
            <a:r>
              <a:rPr sz="1100" b="1" i="0">
                <a:solidFill>
                  <a:srgbClr val="FFFFFF"/>
                </a:solidFill>
                <a:latin typeface="Calibri"/>
              </a:rPr>
              <a:t>SCIENCE &amp; TECHNOLOGY</a:t>
            </a:r>
          </a:p>
        </p:txBody>
      </p:sp>
      <p:sp>
        <p:nvSpPr>
          <p:cNvPr id="6" name="TextBox 5"/>
          <p:cNvSpPr txBox="1"/>
          <p:nvPr/>
        </p:nvSpPr>
        <p:spPr>
          <a:xfrm>
            <a:off x="6903720" y="502920"/>
            <a:ext cx="2148840" cy="365760"/>
          </a:xfrm>
          <a:prstGeom prst="rect">
            <a:avLst/>
          </a:prstGeom>
          <a:noFill/>
        </p:spPr>
        <p:txBody>
          <a:bodyPr wrap="square">
            <a:spAutoFit/>
          </a:bodyPr>
          <a:lstStyle/>
          <a:p>
            <a:pPr algn="l"/>
            <a:r>
              <a:rPr sz="2200" b="1" i="0">
                <a:solidFill>
                  <a:srgbClr val="FFFFFF"/>
                </a:solidFill>
                <a:latin typeface="Calibri"/>
              </a:rPr>
              <a:t>STAGE 3</a:t>
            </a:r>
          </a:p>
        </p:txBody>
      </p:sp>
      <p:sp>
        <p:nvSpPr>
          <p:cNvPr id="7" name="TextBox 6"/>
          <p:cNvSpPr txBox="1"/>
          <p:nvPr/>
        </p:nvSpPr>
        <p:spPr>
          <a:xfrm>
            <a:off x="6903720" y="1097280"/>
            <a:ext cx="2148840" cy="365760"/>
          </a:xfrm>
          <a:prstGeom prst="rect">
            <a:avLst/>
          </a:prstGeom>
          <a:noFill/>
        </p:spPr>
        <p:txBody>
          <a:bodyPr wrap="square">
            <a:spAutoFit/>
          </a:bodyPr>
          <a:lstStyle/>
          <a:p>
            <a:pPr algn="l"/>
            <a:r>
              <a:rPr sz="1400" b="0" i="0">
                <a:solidFill>
                  <a:srgbClr val="A8C4B2"/>
                </a:solidFill>
                <a:latin typeface="Calibri"/>
              </a:rPr>
              <a:t>POST-VISIT</a:t>
            </a:r>
          </a:p>
        </p:txBody>
      </p:sp>
      <p:sp>
        <p:nvSpPr>
          <p:cNvPr id="8" name="TextBox 7"/>
          <p:cNvSpPr txBox="1"/>
          <p:nvPr/>
        </p:nvSpPr>
        <p:spPr>
          <a:xfrm>
            <a:off x="640080" y="1371600"/>
            <a:ext cx="6035040" cy="1828800"/>
          </a:xfrm>
          <a:prstGeom prst="rect">
            <a:avLst/>
          </a:prstGeom>
          <a:noFill/>
        </p:spPr>
        <p:txBody>
          <a:bodyPr wrap="square">
            <a:spAutoFit/>
          </a:bodyPr>
          <a:lstStyle/>
          <a:p>
            <a:pPr algn="l"/>
            <a:r>
              <a:rPr sz="3200" b="1" i="0">
                <a:solidFill>
                  <a:srgbClr val="FFFFFF"/>
                </a:solidFill>
                <a:latin typeface="Calibri"/>
              </a:rPr>
              <a:t>Ecosystems &amp; Biodiversity
After the Zoo</a:t>
            </a:r>
          </a:p>
        </p:txBody>
      </p:sp>
      <p:sp>
        <p:nvSpPr>
          <p:cNvPr id="9" name="TextBox 8"/>
          <p:cNvSpPr txBox="1"/>
          <p:nvPr/>
        </p:nvSpPr>
        <p:spPr>
          <a:xfrm>
            <a:off x="640080" y="3291840"/>
            <a:ext cx="5486400" cy="457200"/>
          </a:xfrm>
          <a:prstGeom prst="rect">
            <a:avLst/>
          </a:prstGeom>
          <a:noFill/>
        </p:spPr>
        <p:txBody>
          <a:bodyPr wrap="square">
            <a:spAutoFit/>
          </a:bodyPr>
          <a:lstStyle/>
          <a:p>
            <a:pPr algn="l"/>
            <a:r>
              <a:rPr sz="1300" b="1" i="0">
                <a:solidFill>
                  <a:srgbClr val="1A5238"/>
                </a:solidFill>
                <a:latin typeface="Calibri"/>
              </a:rPr>
              <a:t>TARONGA TRACKA</a:t>
            </a:r>
          </a:p>
        </p:txBody>
      </p:sp>
      <p:sp>
        <p:nvSpPr>
          <p:cNvPr id="10" name="TextBox 9"/>
          <p:cNvSpPr txBox="1"/>
          <p:nvPr/>
        </p:nvSpPr>
        <p:spPr>
          <a:xfrm>
            <a:off x="640080" y="3749039"/>
            <a:ext cx="7772400" cy="320040"/>
          </a:xfrm>
          <a:prstGeom prst="rect">
            <a:avLst/>
          </a:prstGeom>
          <a:noFill/>
        </p:spPr>
        <p:txBody>
          <a:bodyPr wrap="square">
            <a:spAutoFit/>
          </a:bodyPr>
          <a:lstStyle/>
          <a:p>
            <a:pPr algn="l"/>
            <a:r>
              <a:rPr sz="1000" b="0" i="0">
                <a:solidFill>
                  <a:srgbClr val="88AA99"/>
                </a:solidFill>
                <a:latin typeface="Calibri"/>
              </a:rPr>
              <a:t>NSW Outcomes: ST3-4LW-S  ·  ST3-5LW-T</a:t>
            </a:r>
          </a:p>
        </p:txBody>
      </p:sp>
      <p:sp>
        <p:nvSpPr>
          <p:cNvPr id="11" name="Rectangle 10"/>
          <p:cNvSpPr/>
          <p:nvPr/>
        </p:nvSpPr>
        <p:spPr>
          <a:xfrm>
            <a:off x="640080" y="4160520"/>
            <a:ext cx="7863840" cy="22860"/>
          </a:xfrm>
          <a:prstGeom prst="rect">
            <a:avLst/>
          </a:prstGeom>
          <a:solidFill>
            <a:srgbClr val="2E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297680"/>
            <a:ext cx="7772400" cy="365760"/>
          </a:xfrm>
          <a:prstGeom prst="rect">
            <a:avLst/>
          </a:prstGeom>
          <a:noFill/>
        </p:spPr>
        <p:txBody>
          <a:bodyPr wrap="square">
            <a:spAutoFit/>
          </a:bodyPr>
          <a:lstStyle/>
          <a:p>
            <a:pPr algn="l"/>
            <a:r>
              <a:rPr sz="1100" b="0" i="0">
                <a:solidFill>
                  <a:srgbClr val="A8C4B2"/>
                </a:solidFill>
                <a:latin typeface="Calibri"/>
              </a:rPr>
              <a:t>Consolidate learning after the Taronga excursion</a:t>
            </a:r>
          </a:p>
        </p:txBody>
      </p:sp>
      <p:sp>
        <p:nvSpPr>
          <p:cNvPr id="13" name="Rectangle 12"/>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 y="6601968"/>
            <a:ext cx="8778240" cy="228600"/>
          </a:xfrm>
          <a:prstGeom prst="rect">
            <a:avLst/>
          </a:prstGeom>
          <a:noFill/>
        </p:spPr>
        <p:txBody>
          <a:bodyPr wrap="square">
            <a:spAutoFit/>
          </a:bodyPr>
          <a:lstStyle/>
          <a:p>
            <a:pPr algn="r"/>
            <a:r>
              <a:rPr sz="900" b="0" i="0">
                <a:solidFill>
                  <a:srgbClr val="88AA99"/>
                </a:solidFill>
                <a:latin typeface="Calibri"/>
              </a:rPr>
              <a:t>taronga.org.au  ·  tarongatracka.com.au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82296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
            <a:ext cx="8595360" cy="640080"/>
          </a:xfrm>
          <a:prstGeom prst="rect">
            <a:avLst/>
          </a:prstGeom>
          <a:noFill/>
        </p:spPr>
        <p:txBody>
          <a:bodyPr wrap="square">
            <a:spAutoFit/>
          </a:bodyPr>
          <a:lstStyle/>
          <a:p>
            <a:pPr algn="l"/>
            <a:r>
              <a:rPr sz="1400" b="1" i="0">
                <a:solidFill>
                  <a:srgbClr val="FFFFFF"/>
                </a:solidFill>
                <a:latin typeface="Calibri"/>
              </a:rPr>
              <a:t>LEARNING INTENTION &amp; SUCCESS CRITERIA</a:t>
            </a:r>
          </a:p>
        </p:txBody>
      </p:sp>
      <p:sp>
        <p:nvSpPr>
          <p:cNvPr id="5" name="Rectangle 4"/>
          <p:cNvSpPr/>
          <p:nvPr/>
        </p:nvSpPr>
        <p:spPr>
          <a:xfrm>
            <a:off x="274320" y="1097280"/>
            <a:ext cx="8595360" cy="1371600"/>
          </a:xfrm>
          <a:prstGeom prst="rect">
            <a:avLst/>
          </a:prstGeom>
          <a:solidFill>
            <a:srgbClr val="0E2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097280"/>
            <a:ext cx="73152" cy="13716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43000"/>
            <a:ext cx="3657600" cy="320040"/>
          </a:xfrm>
          <a:prstGeom prst="rect">
            <a:avLst/>
          </a:prstGeom>
          <a:noFill/>
        </p:spPr>
        <p:txBody>
          <a:bodyPr wrap="square">
            <a:spAutoFit/>
          </a:bodyPr>
          <a:lstStyle/>
          <a:p>
            <a:pPr algn="l"/>
            <a:r>
              <a:rPr sz="1000" b="1" i="0">
                <a:solidFill>
                  <a:srgbClr val="1A5238"/>
                </a:solidFill>
                <a:latin typeface="Calibri"/>
              </a:rPr>
              <a:t>LEARNING INTENTION</a:t>
            </a:r>
          </a:p>
        </p:txBody>
      </p:sp>
      <p:sp>
        <p:nvSpPr>
          <p:cNvPr id="8" name="TextBox 7"/>
          <p:cNvSpPr txBox="1"/>
          <p:nvPr/>
        </p:nvSpPr>
        <p:spPr>
          <a:xfrm>
            <a:off x="457200" y="1463040"/>
            <a:ext cx="8138160" cy="822960"/>
          </a:xfrm>
          <a:prstGeom prst="rect">
            <a:avLst/>
          </a:prstGeom>
          <a:noFill/>
        </p:spPr>
        <p:txBody>
          <a:bodyPr wrap="square">
            <a:spAutoFit/>
          </a:bodyPr>
          <a:lstStyle/>
          <a:p>
            <a:pPr algn="l"/>
            <a:r>
              <a:rPr sz="1400" b="0" i="0">
                <a:solidFill>
                  <a:srgbClr val="FFFFFF"/>
                </a:solidFill>
                <a:latin typeface="Calibri"/>
              </a:rPr>
              <a:t>Describe the roles of organisms in an ecosystem and explain how biodiversity supports ecosystem health.</a:t>
            </a:r>
          </a:p>
        </p:txBody>
      </p:sp>
      <p:sp>
        <p:nvSpPr>
          <p:cNvPr id="9" name="TextBox 8"/>
          <p:cNvSpPr txBox="1"/>
          <p:nvPr/>
        </p:nvSpPr>
        <p:spPr>
          <a:xfrm>
            <a:off x="274320" y="2697480"/>
            <a:ext cx="8229600" cy="365760"/>
          </a:xfrm>
          <a:prstGeom prst="rect">
            <a:avLst/>
          </a:prstGeom>
          <a:noFill/>
        </p:spPr>
        <p:txBody>
          <a:bodyPr wrap="square">
            <a:spAutoFit/>
          </a:bodyPr>
          <a:lstStyle/>
          <a:p>
            <a:pPr algn="l"/>
            <a:r>
              <a:rPr sz="1200" b="1" i="0">
                <a:solidFill>
                  <a:srgbClr val="D97706"/>
                </a:solidFill>
                <a:latin typeface="Calibri"/>
              </a:rPr>
              <a:t>SUCCESS CRITERIA — I can...</a:t>
            </a:r>
          </a:p>
        </p:txBody>
      </p:sp>
      <p:sp>
        <p:nvSpPr>
          <p:cNvPr id="10" name="Rectangle 9"/>
          <p:cNvSpPr/>
          <p:nvPr/>
        </p:nvSpPr>
        <p:spPr>
          <a:xfrm>
            <a:off x="274320" y="3108960"/>
            <a:ext cx="8595360" cy="6858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3108960"/>
            <a:ext cx="73152" cy="6858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218688"/>
            <a:ext cx="320040" cy="3200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 y="3200400"/>
            <a:ext cx="292608" cy="365760"/>
          </a:xfrm>
          <a:prstGeom prst="rect">
            <a:avLst/>
          </a:prstGeom>
          <a:noFill/>
        </p:spPr>
        <p:txBody>
          <a:bodyPr wrap="square">
            <a:spAutoFit/>
          </a:bodyPr>
          <a:lstStyle/>
          <a:p>
            <a:pPr algn="ctr"/>
            <a:r>
              <a:rPr sz="1200" b="1" i="0">
                <a:solidFill>
                  <a:srgbClr val="FFFFFF"/>
                </a:solidFill>
                <a:latin typeface="Calibri"/>
              </a:rPr>
              <a:t>1</a:t>
            </a:r>
          </a:p>
        </p:txBody>
      </p:sp>
      <p:sp>
        <p:nvSpPr>
          <p:cNvPr id="14" name="TextBox 13"/>
          <p:cNvSpPr txBox="1"/>
          <p:nvPr/>
        </p:nvSpPr>
        <p:spPr>
          <a:xfrm>
            <a:off x="868680" y="3200400"/>
            <a:ext cx="7772400" cy="502920"/>
          </a:xfrm>
          <a:prstGeom prst="rect">
            <a:avLst/>
          </a:prstGeom>
          <a:noFill/>
        </p:spPr>
        <p:txBody>
          <a:bodyPr wrap="square">
            <a:spAutoFit/>
          </a:bodyPr>
          <a:lstStyle/>
          <a:p>
            <a:pPr algn="l"/>
            <a:r>
              <a:rPr sz="1200" b="0" i="0">
                <a:solidFill>
                  <a:srgbClr val="FFFFFF"/>
                </a:solidFill>
                <a:latin typeface="Calibri"/>
              </a:rPr>
              <a:t>I can construct a food web using animals from Taronga Zoo</a:t>
            </a:r>
          </a:p>
        </p:txBody>
      </p:sp>
      <p:sp>
        <p:nvSpPr>
          <p:cNvPr id="15" name="Rectangle 14"/>
          <p:cNvSpPr/>
          <p:nvPr/>
        </p:nvSpPr>
        <p:spPr>
          <a:xfrm>
            <a:off x="274320" y="3931920"/>
            <a:ext cx="8595360" cy="6858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3931920"/>
            <a:ext cx="73152" cy="6858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4041648"/>
            <a:ext cx="320040" cy="3200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 y="4023359"/>
            <a:ext cx="292608" cy="365760"/>
          </a:xfrm>
          <a:prstGeom prst="rect">
            <a:avLst/>
          </a:prstGeom>
          <a:noFill/>
        </p:spPr>
        <p:txBody>
          <a:bodyPr wrap="square">
            <a:spAutoFit/>
          </a:bodyPr>
          <a:lstStyle/>
          <a:p>
            <a:pPr algn="ctr"/>
            <a:r>
              <a:rPr sz="1200" b="1" i="0">
                <a:solidFill>
                  <a:srgbClr val="FFFFFF"/>
                </a:solidFill>
                <a:latin typeface="Calibri"/>
              </a:rPr>
              <a:t>2</a:t>
            </a:r>
          </a:p>
        </p:txBody>
      </p:sp>
      <p:sp>
        <p:nvSpPr>
          <p:cNvPr id="19" name="TextBox 18"/>
          <p:cNvSpPr txBox="1"/>
          <p:nvPr/>
        </p:nvSpPr>
        <p:spPr>
          <a:xfrm>
            <a:off x="868680" y="4023359"/>
            <a:ext cx="7772400" cy="502920"/>
          </a:xfrm>
          <a:prstGeom prst="rect">
            <a:avLst/>
          </a:prstGeom>
          <a:noFill/>
        </p:spPr>
        <p:txBody>
          <a:bodyPr wrap="square">
            <a:spAutoFit/>
          </a:bodyPr>
          <a:lstStyle/>
          <a:p>
            <a:pPr algn="l"/>
            <a:r>
              <a:rPr sz="1200" b="0" i="0">
                <a:solidFill>
                  <a:srgbClr val="FFFFFF"/>
                </a:solidFill>
                <a:latin typeface="Calibri"/>
              </a:rPr>
              <a:t>I can explain what would happen if one species was removed</a:t>
            </a:r>
          </a:p>
        </p:txBody>
      </p:sp>
      <p:sp>
        <p:nvSpPr>
          <p:cNvPr id="20" name="Rectangle 19"/>
          <p:cNvSpPr/>
          <p:nvPr/>
        </p:nvSpPr>
        <p:spPr>
          <a:xfrm>
            <a:off x="274320" y="4754880"/>
            <a:ext cx="8595360" cy="6858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4754880"/>
            <a:ext cx="73152" cy="6858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4864608"/>
            <a:ext cx="320040" cy="3200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 y="4846320"/>
            <a:ext cx="292608" cy="365760"/>
          </a:xfrm>
          <a:prstGeom prst="rect">
            <a:avLst/>
          </a:prstGeom>
          <a:noFill/>
        </p:spPr>
        <p:txBody>
          <a:bodyPr wrap="square">
            <a:spAutoFit/>
          </a:bodyPr>
          <a:lstStyle/>
          <a:p>
            <a:pPr algn="ctr"/>
            <a:r>
              <a:rPr sz="1200" b="1" i="0">
                <a:solidFill>
                  <a:srgbClr val="FFFFFF"/>
                </a:solidFill>
                <a:latin typeface="Calibri"/>
              </a:rPr>
              <a:t>3</a:t>
            </a:r>
          </a:p>
        </p:txBody>
      </p:sp>
      <p:sp>
        <p:nvSpPr>
          <p:cNvPr id="24" name="TextBox 23"/>
          <p:cNvSpPr txBox="1"/>
          <p:nvPr/>
        </p:nvSpPr>
        <p:spPr>
          <a:xfrm>
            <a:off x="868680" y="4846320"/>
            <a:ext cx="7772400" cy="502920"/>
          </a:xfrm>
          <a:prstGeom prst="rect">
            <a:avLst/>
          </a:prstGeom>
          <a:noFill/>
        </p:spPr>
        <p:txBody>
          <a:bodyPr wrap="square">
            <a:spAutoFit/>
          </a:bodyPr>
          <a:lstStyle/>
          <a:p>
            <a:pPr algn="l"/>
            <a:r>
              <a:rPr sz="1200" b="0" i="0">
                <a:solidFill>
                  <a:srgbClr val="FFFFFF"/>
                </a:solidFill>
                <a:latin typeface="Calibri"/>
              </a:rPr>
              <a:t>I can use my Tracka observations as evidence in my science explanation</a:t>
            </a:r>
          </a:p>
        </p:txBody>
      </p:sp>
      <p:sp>
        <p:nvSpPr>
          <p:cNvPr id="25" name="Rectangle 24"/>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31008"/>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926080" y="914400"/>
            <a:ext cx="3291840" cy="256032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69080" y="1371600"/>
            <a:ext cx="1005840" cy="1005840"/>
          </a:xfrm>
          <a:prstGeom prst="rect">
            <a:avLst/>
          </a:prstGeom>
          <a:noFill/>
        </p:spPr>
        <p:txBody>
          <a:bodyPr wrap="square">
            <a:spAutoFit/>
          </a:bodyPr>
          <a:lstStyle/>
          <a:p>
            <a:pPr algn="ctr"/>
            <a:r>
              <a:rPr sz="4800" b="0" i="0">
                <a:solidFill>
                  <a:srgbClr val="1A5238"/>
                </a:solidFill>
                <a:latin typeface="Calibri"/>
              </a:rPr>
              <a:t>▶</a:t>
            </a:r>
          </a:p>
        </p:txBody>
      </p:sp>
      <p:sp>
        <p:nvSpPr>
          <p:cNvPr id="5" name="TextBox 4"/>
          <p:cNvSpPr txBox="1"/>
          <p:nvPr/>
        </p:nvSpPr>
        <p:spPr>
          <a:xfrm>
            <a:off x="0" y="3611880"/>
            <a:ext cx="9144000" cy="457200"/>
          </a:xfrm>
          <a:prstGeom prst="rect">
            <a:avLst/>
          </a:prstGeom>
          <a:noFill/>
        </p:spPr>
        <p:txBody>
          <a:bodyPr wrap="square">
            <a:spAutoFit/>
          </a:bodyPr>
          <a:lstStyle/>
          <a:p>
            <a:pPr algn="ctr"/>
            <a:r>
              <a:rPr sz="2000" b="1" i="0">
                <a:solidFill>
                  <a:srgbClr val="FFFFFF"/>
                </a:solidFill>
                <a:latin typeface="Calibri"/>
              </a:rPr>
              <a:t>VIDEO PLACEHOLDER</a:t>
            </a:r>
          </a:p>
        </p:txBody>
      </p:sp>
      <p:sp>
        <p:nvSpPr>
          <p:cNvPr id="6" name="TextBox 5"/>
          <p:cNvSpPr txBox="1"/>
          <p:nvPr/>
        </p:nvSpPr>
        <p:spPr>
          <a:xfrm>
            <a:off x="731520" y="4160520"/>
            <a:ext cx="7680960" cy="1097280"/>
          </a:xfrm>
          <a:prstGeom prst="rect">
            <a:avLst/>
          </a:prstGeom>
          <a:noFill/>
        </p:spPr>
        <p:txBody>
          <a:bodyPr wrap="square">
            <a:spAutoFit/>
          </a:bodyPr>
          <a:lstStyle/>
          <a:p>
            <a:pPr algn="ctr"/>
            <a:r>
              <a:rPr sz="1300" b="0" i="0">
                <a:solidFill>
                  <a:srgbClr val="A8C4B2"/>
                </a:solidFill>
                <a:latin typeface="Calibri"/>
              </a:rPr>
              <a:t>Insert a short clip reviewing the animals students observed at the zoo.
Suggested: student video from the visit, Taronga social media, or conservation documentary.
Aim for 2–4 minutes — use as a reflection anchor.</a:t>
            </a:r>
          </a:p>
        </p:txBody>
      </p:sp>
      <p:sp>
        <p:nvSpPr>
          <p:cNvPr id="7" name="TextBox 6"/>
          <p:cNvSpPr txBox="1"/>
          <p:nvPr/>
        </p:nvSpPr>
        <p:spPr>
          <a:xfrm>
            <a:off x="457200" y="5852160"/>
            <a:ext cx="8229600" cy="365760"/>
          </a:xfrm>
          <a:prstGeom prst="rect">
            <a:avLst/>
          </a:prstGeom>
          <a:noFill/>
        </p:spPr>
        <p:txBody>
          <a:bodyPr wrap="square">
            <a:spAutoFit/>
          </a:bodyPr>
          <a:lstStyle/>
          <a:p>
            <a:pPr algn="ctr"/>
            <a:r>
              <a:rPr sz="1000" b="0" i="0">
                <a:solidFill>
                  <a:srgbClr val="558866"/>
                </a:solidFill>
                <a:latin typeface="Calibri"/>
              </a:rPr>
              <a:t>Teacher note: embed your chosen video directly into this slide before presenting.</a:t>
            </a:r>
          </a:p>
        </p:txBody>
      </p:sp>
      <p:sp>
        <p:nvSpPr>
          <p:cNvPr id="8" name="Rectangle 7"/>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7772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8229600" cy="594360"/>
          </a:xfrm>
          <a:prstGeom prst="rect">
            <a:avLst/>
          </a:prstGeom>
          <a:noFill/>
        </p:spPr>
        <p:txBody>
          <a:bodyPr wrap="square">
            <a:spAutoFit/>
          </a:bodyPr>
          <a:lstStyle/>
          <a:p>
            <a:pPr algn="l"/>
            <a:r>
              <a:rPr sz="1700" b="1" i="0">
                <a:solidFill>
                  <a:srgbClr val="FFFFFF"/>
                </a:solidFill>
                <a:latin typeface="Calibri"/>
              </a:rPr>
              <a:t>CLASS ECOSYSTEM MAP</a:t>
            </a:r>
          </a:p>
        </p:txBody>
      </p:sp>
      <p:sp>
        <p:nvSpPr>
          <p:cNvPr id="5" name="TextBox 4"/>
          <p:cNvSpPr txBox="1"/>
          <p:nvPr/>
        </p:nvSpPr>
        <p:spPr>
          <a:xfrm>
            <a:off x="8412480" y="182880"/>
            <a:ext cx="548640" cy="320040"/>
          </a:xfrm>
          <a:prstGeom prst="rect">
            <a:avLst/>
          </a:prstGeom>
          <a:noFill/>
        </p:spPr>
        <p:txBody>
          <a:bodyPr wrap="square">
            <a:spAutoFit/>
          </a:bodyPr>
          <a:lstStyle/>
          <a:p>
            <a:pPr algn="r"/>
            <a:r>
              <a:rPr sz="900" b="0" i="0">
                <a:solidFill>
                  <a:srgbClr val="A8C4B2"/>
                </a:solidFill>
                <a:latin typeface="Calibri"/>
              </a:rPr>
              <a:t>4 / 9</a:t>
            </a:r>
          </a:p>
        </p:txBody>
      </p:sp>
      <p:sp>
        <p:nvSpPr>
          <p:cNvPr id="6" name="Rectangle 5"/>
          <p:cNvSpPr/>
          <p:nvPr/>
        </p:nvSpPr>
        <p:spPr>
          <a:xfrm>
            <a:off x="274320" y="105156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61288"/>
            <a:ext cx="8229600" cy="658368"/>
          </a:xfrm>
          <a:prstGeom prst="rect">
            <a:avLst/>
          </a:prstGeom>
          <a:noFill/>
        </p:spPr>
        <p:txBody>
          <a:bodyPr wrap="square">
            <a:spAutoFit/>
          </a:bodyPr>
          <a:lstStyle/>
          <a:p>
            <a:pPr algn="l"/>
            <a:r>
              <a:rPr sz="1400" b="0" i="0">
                <a:solidFill>
                  <a:srgbClr val="FFFFFF"/>
                </a:solidFill>
                <a:latin typeface="Calibri"/>
              </a:rPr>
              <a:t>Let's build a food web together from our Tracka observations</a:t>
            </a:r>
          </a:p>
        </p:txBody>
      </p:sp>
      <p:sp>
        <p:nvSpPr>
          <p:cNvPr id="9" name="Rectangle 8"/>
          <p:cNvSpPr/>
          <p:nvPr/>
        </p:nvSpPr>
        <p:spPr>
          <a:xfrm>
            <a:off x="274320" y="205740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05740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67128"/>
            <a:ext cx="8229600" cy="658368"/>
          </a:xfrm>
          <a:prstGeom prst="rect">
            <a:avLst/>
          </a:prstGeom>
          <a:noFill/>
        </p:spPr>
        <p:txBody>
          <a:bodyPr wrap="square">
            <a:spAutoFit/>
          </a:bodyPr>
          <a:lstStyle/>
          <a:p>
            <a:pPr algn="l"/>
            <a:r>
              <a:rPr sz="1400" b="0" i="0">
                <a:solidFill>
                  <a:srgbClr val="FFFFFF"/>
                </a:solidFill>
                <a:latin typeface="Calibri"/>
              </a:rPr>
              <a:t>Which animals were producers / consumers / predators?</a:t>
            </a:r>
          </a:p>
        </p:txBody>
      </p:sp>
      <p:sp>
        <p:nvSpPr>
          <p:cNvPr id="12" name="Rectangle 11"/>
          <p:cNvSpPr/>
          <p:nvPr/>
        </p:nvSpPr>
        <p:spPr>
          <a:xfrm>
            <a:off x="274320" y="306324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6324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72968"/>
            <a:ext cx="8229600" cy="658368"/>
          </a:xfrm>
          <a:prstGeom prst="rect">
            <a:avLst/>
          </a:prstGeom>
          <a:noFill/>
        </p:spPr>
        <p:txBody>
          <a:bodyPr wrap="square">
            <a:spAutoFit/>
          </a:bodyPr>
          <a:lstStyle/>
          <a:p>
            <a:pPr algn="l"/>
            <a:r>
              <a:rPr sz="1400" b="0" i="0">
                <a:solidFill>
                  <a:srgbClr val="FFFFFF"/>
                </a:solidFill>
                <a:latin typeface="Calibri"/>
              </a:rPr>
              <a:t>Did anyone observe a feeding behaviour? What did you see?</a:t>
            </a:r>
          </a:p>
        </p:txBody>
      </p:sp>
      <p:sp>
        <p:nvSpPr>
          <p:cNvPr id="15" name="Rectangle 14"/>
          <p:cNvSpPr/>
          <p:nvPr/>
        </p:nvSpPr>
        <p:spPr>
          <a:xfrm>
            <a:off x="274320" y="406908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406908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178808"/>
            <a:ext cx="8229600" cy="658368"/>
          </a:xfrm>
          <a:prstGeom prst="rect">
            <a:avLst/>
          </a:prstGeom>
          <a:noFill/>
        </p:spPr>
        <p:txBody>
          <a:bodyPr wrap="square">
            <a:spAutoFit/>
          </a:bodyPr>
          <a:lstStyle/>
          <a:p>
            <a:pPr algn="l"/>
            <a:r>
              <a:rPr sz="1400" b="0" i="0">
                <a:solidFill>
                  <a:srgbClr val="FFFFFF"/>
                </a:solidFill>
                <a:latin typeface="Calibri"/>
              </a:rPr>
              <a:t>Teacher: map this on the whiteboard with class input</a:t>
            </a:r>
          </a:p>
        </p:txBody>
      </p:sp>
      <p:sp>
        <p:nvSpPr>
          <p:cNvPr id="18" name="Rectangle 17"/>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7772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8229600" cy="594360"/>
          </a:xfrm>
          <a:prstGeom prst="rect">
            <a:avLst/>
          </a:prstGeom>
          <a:noFill/>
        </p:spPr>
        <p:txBody>
          <a:bodyPr wrap="square">
            <a:spAutoFit/>
          </a:bodyPr>
          <a:lstStyle/>
          <a:p>
            <a:pPr algn="l"/>
            <a:r>
              <a:rPr sz="1700" b="1" i="0">
                <a:solidFill>
                  <a:srgbClr val="FFFFFF"/>
                </a:solidFill>
                <a:latin typeface="Calibri"/>
              </a:rPr>
              <a:t>BIODIVERSITY AT RISK</a:t>
            </a:r>
          </a:p>
        </p:txBody>
      </p:sp>
      <p:sp>
        <p:nvSpPr>
          <p:cNvPr id="5" name="TextBox 4"/>
          <p:cNvSpPr txBox="1"/>
          <p:nvPr/>
        </p:nvSpPr>
        <p:spPr>
          <a:xfrm>
            <a:off x="8412480" y="182880"/>
            <a:ext cx="548640" cy="320040"/>
          </a:xfrm>
          <a:prstGeom prst="rect">
            <a:avLst/>
          </a:prstGeom>
          <a:noFill/>
        </p:spPr>
        <p:txBody>
          <a:bodyPr wrap="square">
            <a:spAutoFit/>
          </a:bodyPr>
          <a:lstStyle/>
          <a:p>
            <a:pPr algn="r"/>
            <a:r>
              <a:rPr sz="900" b="0" i="0">
                <a:solidFill>
                  <a:srgbClr val="A8C4B2"/>
                </a:solidFill>
                <a:latin typeface="Calibri"/>
              </a:rPr>
              <a:t>5 / 9</a:t>
            </a:r>
          </a:p>
        </p:txBody>
      </p:sp>
      <p:sp>
        <p:nvSpPr>
          <p:cNvPr id="6" name="Rectangle 5"/>
          <p:cNvSpPr/>
          <p:nvPr/>
        </p:nvSpPr>
        <p:spPr>
          <a:xfrm>
            <a:off x="274320" y="105156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61288"/>
            <a:ext cx="8229600" cy="658368"/>
          </a:xfrm>
          <a:prstGeom prst="rect">
            <a:avLst/>
          </a:prstGeom>
          <a:noFill/>
        </p:spPr>
        <p:txBody>
          <a:bodyPr wrap="square">
            <a:spAutoFit/>
          </a:bodyPr>
          <a:lstStyle/>
          <a:p>
            <a:pPr algn="l"/>
            <a:r>
              <a:rPr sz="1400" b="0" i="0">
                <a:solidFill>
                  <a:srgbClr val="FFFFFF"/>
                </a:solidFill>
                <a:latin typeface="Calibri"/>
              </a:rPr>
              <a:t>Many of Taronga's animals are endangered in the wild</a:t>
            </a:r>
          </a:p>
        </p:txBody>
      </p:sp>
      <p:sp>
        <p:nvSpPr>
          <p:cNvPr id="9" name="Rectangle 8"/>
          <p:cNvSpPr/>
          <p:nvPr/>
        </p:nvSpPr>
        <p:spPr>
          <a:xfrm>
            <a:off x="274320" y="205740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05740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67128"/>
            <a:ext cx="8229600" cy="658368"/>
          </a:xfrm>
          <a:prstGeom prst="rect">
            <a:avLst/>
          </a:prstGeom>
          <a:noFill/>
        </p:spPr>
        <p:txBody>
          <a:bodyPr wrap="square">
            <a:spAutoFit/>
          </a:bodyPr>
          <a:lstStyle/>
          <a:p>
            <a:pPr algn="l"/>
            <a:r>
              <a:rPr sz="1400" b="0" i="0">
                <a:solidFill>
                  <a:srgbClr val="FFFFFF"/>
                </a:solidFill>
                <a:latin typeface="Calibri"/>
              </a:rPr>
              <a:t>Tiger: ~600 left in the wild. Gorilla: ~1,000 left.</a:t>
            </a:r>
          </a:p>
        </p:txBody>
      </p:sp>
      <p:sp>
        <p:nvSpPr>
          <p:cNvPr id="12" name="Rectangle 11"/>
          <p:cNvSpPr/>
          <p:nvPr/>
        </p:nvSpPr>
        <p:spPr>
          <a:xfrm>
            <a:off x="274320" y="306324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6324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72968"/>
            <a:ext cx="8229600" cy="658368"/>
          </a:xfrm>
          <a:prstGeom prst="rect">
            <a:avLst/>
          </a:prstGeom>
          <a:noFill/>
        </p:spPr>
        <p:txBody>
          <a:bodyPr wrap="square">
            <a:spAutoFit/>
          </a:bodyPr>
          <a:lstStyle/>
          <a:p>
            <a:pPr algn="l"/>
            <a:r>
              <a:rPr sz="1400" b="0" i="0">
                <a:solidFill>
                  <a:srgbClr val="FFFFFF"/>
                </a:solidFill>
                <a:latin typeface="Calibri"/>
              </a:rPr>
              <a:t>What threatens these animals? (habitat loss, poaching, climate)</a:t>
            </a:r>
          </a:p>
        </p:txBody>
      </p:sp>
      <p:sp>
        <p:nvSpPr>
          <p:cNvPr id="15" name="Rectangle 14"/>
          <p:cNvSpPr/>
          <p:nvPr/>
        </p:nvSpPr>
        <p:spPr>
          <a:xfrm>
            <a:off x="274320" y="406908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406908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178808"/>
            <a:ext cx="8229600" cy="658368"/>
          </a:xfrm>
          <a:prstGeom prst="rect">
            <a:avLst/>
          </a:prstGeom>
          <a:noFill/>
        </p:spPr>
        <p:txBody>
          <a:bodyPr wrap="square">
            <a:spAutoFit/>
          </a:bodyPr>
          <a:lstStyle/>
          <a:p>
            <a:pPr algn="l"/>
            <a:r>
              <a:rPr sz="1400" b="0" i="0">
                <a:solidFill>
                  <a:srgbClr val="FFFFFF"/>
                </a:solidFill>
                <a:latin typeface="Calibri"/>
              </a:rPr>
              <a:t>Discuss: what can we do from our school?</a:t>
            </a:r>
          </a:p>
        </p:txBody>
      </p:sp>
      <p:sp>
        <p:nvSpPr>
          <p:cNvPr id="18" name="Rectangle 17"/>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7772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8229600" cy="594360"/>
          </a:xfrm>
          <a:prstGeom prst="rect">
            <a:avLst/>
          </a:prstGeom>
          <a:noFill/>
        </p:spPr>
        <p:txBody>
          <a:bodyPr wrap="square">
            <a:spAutoFit/>
          </a:bodyPr>
          <a:lstStyle/>
          <a:p>
            <a:pPr algn="l"/>
            <a:r>
              <a:rPr sz="1700" b="1" i="0">
                <a:solidFill>
                  <a:srgbClr val="FFFFFF"/>
                </a:solidFill>
                <a:latin typeface="Calibri"/>
              </a:rPr>
              <a:t>EVIDENCE FROM OBSERVATIONS</a:t>
            </a:r>
          </a:p>
        </p:txBody>
      </p:sp>
      <p:sp>
        <p:nvSpPr>
          <p:cNvPr id="5" name="TextBox 4"/>
          <p:cNvSpPr txBox="1"/>
          <p:nvPr/>
        </p:nvSpPr>
        <p:spPr>
          <a:xfrm>
            <a:off x="8412480" y="182880"/>
            <a:ext cx="548640" cy="320040"/>
          </a:xfrm>
          <a:prstGeom prst="rect">
            <a:avLst/>
          </a:prstGeom>
          <a:noFill/>
        </p:spPr>
        <p:txBody>
          <a:bodyPr wrap="square">
            <a:spAutoFit/>
          </a:bodyPr>
          <a:lstStyle/>
          <a:p>
            <a:pPr algn="r"/>
            <a:r>
              <a:rPr sz="900" b="0" i="0">
                <a:solidFill>
                  <a:srgbClr val="A8C4B2"/>
                </a:solidFill>
                <a:latin typeface="Calibri"/>
              </a:rPr>
              <a:t>6 / 9</a:t>
            </a:r>
          </a:p>
        </p:txBody>
      </p:sp>
      <p:sp>
        <p:nvSpPr>
          <p:cNvPr id="6" name="Rectangle 5"/>
          <p:cNvSpPr/>
          <p:nvPr/>
        </p:nvSpPr>
        <p:spPr>
          <a:xfrm>
            <a:off x="274320" y="105156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61288"/>
            <a:ext cx="8229600" cy="658368"/>
          </a:xfrm>
          <a:prstGeom prst="rect">
            <a:avLst/>
          </a:prstGeom>
          <a:noFill/>
        </p:spPr>
        <p:txBody>
          <a:bodyPr wrap="square">
            <a:spAutoFit/>
          </a:bodyPr>
          <a:lstStyle/>
          <a:p>
            <a:pPr algn="l"/>
            <a:r>
              <a:rPr sz="1400" b="0" i="0">
                <a:solidFill>
                  <a:srgbClr val="FFFFFF"/>
                </a:solidFill>
                <a:latin typeface="Calibri"/>
              </a:rPr>
              <a:t>Look back at your highest-scoring Tracka observation</a:t>
            </a:r>
          </a:p>
        </p:txBody>
      </p:sp>
      <p:sp>
        <p:nvSpPr>
          <p:cNvPr id="9" name="Rectangle 8"/>
          <p:cNvSpPr/>
          <p:nvPr/>
        </p:nvSpPr>
        <p:spPr>
          <a:xfrm>
            <a:off x="274320" y="205740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05740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67128"/>
            <a:ext cx="8229600" cy="658368"/>
          </a:xfrm>
          <a:prstGeom prst="rect">
            <a:avLst/>
          </a:prstGeom>
          <a:noFill/>
        </p:spPr>
        <p:txBody>
          <a:bodyPr wrap="square">
            <a:spAutoFit/>
          </a:bodyPr>
          <a:lstStyle/>
          <a:p>
            <a:pPr algn="l"/>
            <a:r>
              <a:rPr sz="1400" b="0" i="0">
                <a:solidFill>
                  <a:srgbClr val="FFFFFF"/>
                </a:solidFill>
                <a:latin typeface="Calibri"/>
              </a:rPr>
              <a:t>What made it a strong scientific observation?</a:t>
            </a:r>
          </a:p>
        </p:txBody>
      </p:sp>
      <p:sp>
        <p:nvSpPr>
          <p:cNvPr id="12" name="Rectangle 11"/>
          <p:cNvSpPr/>
          <p:nvPr/>
        </p:nvSpPr>
        <p:spPr>
          <a:xfrm>
            <a:off x="274320" y="306324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6324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72968"/>
            <a:ext cx="8229600" cy="658368"/>
          </a:xfrm>
          <a:prstGeom prst="rect">
            <a:avLst/>
          </a:prstGeom>
          <a:noFill/>
        </p:spPr>
        <p:txBody>
          <a:bodyPr wrap="square">
            <a:spAutoFit/>
          </a:bodyPr>
          <a:lstStyle/>
          <a:p>
            <a:pPr algn="l"/>
            <a:r>
              <a:rPr sz="1400" b="0" i="0">
                <a:solidFill>
                  <a:srgbClr val="FFFFFF"/>
                </a:solidFill>
                <a:latin typeface="Calibri"/>
              </a:rPr>
              <a:t>Peer share: swap observations and give one piece of feedback</a:t>
            </a:r>
          </a:p>
        </p:txBody>
      </p:sp>
      <p:sp>
        <p:nvSpPr>
          <p:cNvPr id="15" name="Rectangle 14"/>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1A10"/>
        </a:solidFill>
        <a:effectLst/>
      </p:bgPr>
    </p:bg>
    <p:spTree>
      <p:nvGrpSpPr>
        <p:cNvPr id="1" name=""/>
        <p:cNvGrpSpPr/>
        <p:nvPr/>
      </p:nvGrpSpPr>
      <p:grpSpPr/>
      <p:sp>
        <p:nvSpPr>
          <p:cNvPr id="2" name="Rectangle 1"/>
          <p:cNvSpPr/>
          <p:nvPr/>
        </p:nvSpPr>
        <p:spPr>
          <a:xfrm>
            <a:off x="0" y="0"/>
            <a:ext cx="91440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1005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37160"/>
            <a:ext cx="8229600" cy="777240"/>
          </a:xfrm>
          <a:prstGeom prst="rect">
            <a:avLst/>
          </a:prstGeom>
          <a:noFill/>
        </p:spPr>
        <p:txBody>
          <a:bodyPr wrap="square">
            <a:spAutoFit/>
          </a:bodyPr>
          <a:lstStyle/>
          <a:p>
            <a:pPr algn="l"/>
            <a:r>
              <a:rPr sz="2800" b="1" i="0">
                <a:solidFill>
                  <a:srgbClr val="071E14"/>
                </a:solidFill>
                <a:latin typeface="Calibri"/>
              </a:rPr>
              <a:t>🧠  BRAIN BREAK</a:t>
            </a:r>
          </a:p>
        </p:txBody>
      </p:sp>
      <p:sp>
        <p:nvSpPr>
          <p:cNvPr id="5" name="TextBox 4"/>
          <p:cNvSpPr txBox="1"/>
          <p:nvPr/>
        </p:nvSpPr>
        <p:spPr>
          <a:xfrm>
            <a:off x="274320" y="1325880"/>
            <a:ext cx="8595360" cy="548640"/>
          </a:xfrm>
          <a:prstGeom prst="rect">
            <a:avLst/>
          </a:prstGeom>
          <a:noFill/>
        </p:spPr>
        <p:txBody>
          <a:bodyPr wrap="square">
            <a:spAutoFit/>
          </a:bodyPr>
          <a:lstStyle/>
          <a:p>
            <a:pPr algn="l"/>
            <a:r>
              <a:rPr sz="2200" b="1" i="0">
                <a:solidFill>
                  <a:srgbClr val="D97706"/>
                </a:solidFill>
                <a:latin typeface="Calibri"/>
              </a:rPr>
              <a:t>SAFARI SKETCH</a:t>
            </a:r>
          </a:p>
        </p:txBody>
      </p:sp>
      <p:sp>
        <p:nvSpPr>
          <p:cNvPr id="6" name="Rectangle 5"/>
          <p:cNvSpPr/>
          <p:nvPr/>
        </p:nvSpPr>
        <p:spPr>
          <a:xfrm>
            <a:off x="274320" y="2011680"/>
            <a:ext cx="8595360" cy="256032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2011680"/>
            <a:ext cx="91440" cy="25603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148840"/>
            <a:ext cx="8138160" cy="2286000"/>
          </a:xfrm>
          <a:prstGeom prst="rect">
            <a:avLst/>
          </a:prstGeom>
          <a:noFill/>
        </p:spPr>
        <p:txBody>
          <a:bodyPr wrap="square">
            <a:spAutoFit/>
          </a:bodyPr>
          <a:lstStyle/>
          <a:p>
            <a:pPr algn="l"/>
            <a:r>
              <a:rPr sz="1500" b="0" i="0">
                <a:solidFill>
                  <a:srgbClr val="FFFFFF"/>
                </a:solidFill>
                <a:latin typeface="Calibri"/>
              </a:rPr>
              <a:t>You have 60 seconds to draw a Taronga Zoo animal. Show your class and see if they can guess it!</a:t>
            </a:r>
          </a:p>
        </p:txBody>
      </p:sp>
      <p:sp>
        <p:nvSpPr>
          <p:cNvPr id="9" name="TextBox 8"/>
          <p:cNvSpPr txBox="1"/>
          <p:nvPr/>
        </p:nvSpPr>
        <p:spPr>
          <a:xfrm>
            <a:off x="274320" y="4754880"/>
            <a:ext cx="8595360" cy="457200"/>
          </a:xfrm>
          <a:prstGeom prst="rect">
            <a:avLst/>
          </a:prstGeom>
          <a:noFill/>
        </p:spPr>
        <p:txBody>
          <a:bodyPr wrap="square">
            <a:spAutoFit/>
          </a:bodyPr>
          <a:lstStyle/>
          <a:p>
            <a:pPr algn="ctr"/>
            <a:r>
              <a:rPr sz="1200" b="1" i="0">
                <a:solidFill>
                  <a:srgbClr val="88AA77"/>
                </a:solidFill>
                <a:latin typeface="Calibri"/>
              </a:rPr>
              <a:t>⏱  Allow 3–5 minutes  ·  Everyone participates!</a:t>
            </a:r>
          </a:p>
        </p:txBody>
      </p:sp>
      <p:sp>
        <p:nvSpPr>
          <p:cNvPr id="10" name="Rectangle 9"/>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9144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8503920" cy="685800"/>
          </a:xfrm>
          <a:prstGeom prst="rect">
            <a:avLst/>
          </a:prstGeom>
          <a:noFill/>
        </p:spPr>
        <p:txBody>
          <a:bodyPr wrap="square">
            <a:spAutoFit/>
          </a:bodyPr>
          <a:lstStyle/>
          <a:p>
            <a:pPr algn="l"/>
            <a:r>
              <a:rPr sz="1600" b="1" i="0">
                <a:solidFill>
                  <a:srgbClr val="FFFFFF"/>
                </a:solidFill>
                <a:latin typeface="Calibri"/>
              </a:rPr>
              <a:t>ACTION PROJECT — Apply Your Learning</a:t>
            </a:r>
          </a:p>
        </p:txBody>
      </p:sp>
      <p:sp>
        <p:nvSpPr>
          <p:cNvPr id="5" name="TextBox 4"/>
          <p:cNvSpPr txBox="1"/>
          <p:nvPr/>
        </p:nvSpPr>
        <p:spPr>
          <a:xfrm>
            <a:off x="274320" y="1188720"/>
            <a:ext cx="8595360" cy="411480"/>
          </a:xfrm>
          <a:prstGeom prst="rect">
            <a:avLst/>
          </a:prstGeom>
          <a:noFill/>
        </p:spPr>
        <p:txBody>
          <a:bodyPr wrap="square">
            <a:spAutoFit/>
          </a:bodyPr>
          <a:lstStyle/>
          <a:p>
            <a:pPr algn="l"/>
            <a:r>
              <a:rPr sz="1700" b="1" i="0">
                <a:solidFill>
                  <a:srgbClr val="D97706"/>
                </a:solidFill>
                <a:latin typeface="Calibri"/>
              </a:rPr>
              <a:t>Ecosystem Explainer Video</a:t>
            </a:r>
          </a:p>
        </p:txBody>
      </p:sp>
      <p:sp>
        <p:nvSpPr>
          <p:cNvPr id="6" name="Rectangle 5"/>
          <p:cNvSpPr/>
          <p:nvPr/>
        </p:nvSpPr>
        <p:spPr>
          <a:xfrm>
            <a:off x="274320" y="1691640"/>
            <a:ext cx="8595360" cy="27432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691640"/>
            <a:ext cx="73152" cy="27432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83080"/>
            <a:ext cx="8138160" cy="2560320"/>
          </a:xfrm>
          <a:prstGeom prst="rect">
            <a:avLst/>
          </a:prstGeom>
          <a:noFill/>
        </p:spPr>
        <p:txBody>
          <a:bodyPr wrap="square">
            <a:spAutoFit/>
          </a:bodyPr>
          <a:lstStyle/>
          <a:p>
            <a:pPr algn="l"/>
            <a:r>
              <a:rPr sz="1200" b="0" i="0">
                <a:solidFill>
                  <a:srgbClr val="FFFFFF"/>
                </a:solidFill>
                <a:latin typeface="Calibri"/>
              </a:rPr>
              <a:t>In groups of 3–4, create a 60-second explainer video about one animal you observed at Taronga. Your video must include: the animal's role in its ecosystem, at least one threat it faces, and one action people can take to help. Upload to your class folder and vote on the most persuasive video.</a:t>
            </a:r>
          </a:p>
        </p:txBody>
      </p:sp>
      <p:sp>
        <p:nvSpPr>
          <p:cNvPr id="9" name="TextBox 8"/>
          <p:cNvSpPr txBox="1"/>
          <p:nvPr/>
        </p:nvSpPr>
        <p:spPr>
          <a:xfrm>
            <a:off x="274320" y="4617720"/>
            <a:ext cx="8595360" cy="365760"/>
          </a:xfrm>
          <a:prstGeom prst="rect">
            <a:avLst/>
          </a:prstGeom>
          <a:noFill/>
        </p:spPr>
        <p:txBody>
          <a:bodyPr wrap="square">
            <a:spAutoFit/>
          </a:bodyPr>
          <a:lstStyle/>
          <a:p>
            <a:pPr algn="ctr"/>
            <a:r>
              <a:rPr sz="1100" b="1" i="0">
                <a:solidFill>
                  <a:srgbClr val="88AA77"/>
                </a:solidFill>
                <a:latin typeface="Calibri"/>
              </a:rPr>
              <a:t>Project formats: Poster · Video · Model · Report · Presentation · Campaign</a:t>
            </a:r>
          </a:p>
        </p:txBody>
      </p:sp>
      <p:sp>
        <p:nvSpPr>
          <p:cNvPr id="10" name="Rectangle 9"/>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914400"/>
          </a:xfrm>
          <a:prstGeom prst="rect">
            <a:avLst/>
          </a:prstGeom>
          <a:solidFill>
            <a:srgbClr val="1A1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8229600" cy="685800"/>
          </a:xfrm>
          <a:prstGeom prst="rect">
            <a:avLst/>
          </a:prstGeom>
          <a:noFill/>
        </p:spPr>
        <p:txBody>
          <a:bodyPr wrap="square">
            <a:spAutoFit/>
          </a:bodyPr>
          <a:lstStyle/>
          <a:p>
            <a:pPr algn="l"/>
            <a:r>
              <a:rPr sz="2400" b="1" i="0">
                <a:solidFill>
                  <a:srgbClr val="D97706"/>
                </a:solidFill>
                <a:latin typeface="Calibri"/>
              </a:rPr>
              <a:t>🎫  EXIT TICKET</a:t>
            </a:r>
          </a:p>
        </p:txBody>
      </p:sp>
      <p:sp>
        <p:nvSpPr>
          <p:cNvPr id="5" name="Rectangle 4"/>
          <p:cNvSpPr/>
          <p:nvPr/>
        </p:nvSpPr>
        <p:spPr>
          <a:xfrm>
            <a:off x="274320" y="1234440"/>
            <a:ext cx="8595360" cy="169164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234440"/>
            <a:ext cx="73152" cy="1691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371600"/>
            <a:ext cx="457200" cy="411480"/>
          </a:xfrm>
          <a:prstGeom prst="rect">
            <a:avLst/>
          </a:prstGeom>
          <a:noFill/>
        </p:spPr>
        <p:txBody>
          <a:bodyPr wrap="square">
            <a:spAutoFit/>
          </a:bodyPr>
          <a:lstStyle/>
          <a:p>
            <a:pPr algn="l"/>
            <a:r>
              <a:rPr sz="1600" b="1" i="0">
                <a:solidFill>
                  <a:srgbClr val="D97706"/>
                </a:solidFill>
                <a:latin typeface="Calibri"/>
              </a:rPr>
              <a:t>Q1</a:t>
            </a:r>
          </a:p>
        </p:txBody>
      </p:sp>
      <p:sp>
        <p:nvSpPr>
          <p:cNvPr id="8" name="TextBox 7"/>
          <p:cNvSpPr txBox="1"/>
          <p:nvPr/>
        </p:nvSpPr>
        <p:spPr>
          <a:xfrm>
            <a:off x="457200" y="1417320"/>
            <a:ext cx="8138160" cy="1371600"/>
          </a:xfrm>
          <a:prstGeom prst="rect">
            <a:avLst/>
          </a:prstGeom>
          <a:noFill/>
        </p:spPr>
        <p:txBody>
          <a:bodyPr wrap="square">
            <a:spAutoFit/>
          </a:bodyPr>
          <a:lstStyle/>
          <a:p>
            <a:pPr algn="l"/>
            <a:r>
              <a:rPr sz="1300" b="0" i="0">
                <a:solidFill>
                  <a:srgbClr val="FFFFFF"/>
                </a:solidFill>
                <a:latin typeface="Calibri"/>
              </a:rPr>
              <a:t>Draw a food chain with 3 organisms that includes an animal you observed at the zoo.</a:t>
            </a:r>
          </a:p>
        </p:txBody>
      </p:sp>
      <p:sp>
        <p:nvSpPr>
          <p:cNvPr id="9" name="Rectangle 8"/>
          <p:cNvSpPr/>
          <p:nvPr/>
        </p:nvSpPr>
        <p:spPr>
          <a:xfrm>
            <a:off x="274320" y="3154680"/>
            <a:ext cx="8595360" cy="169164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3154680"/>
            <a:ext cx="73152" cy="1691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3291840"/>
            <a:ext cx="457200" cy="411480"/>
          </a:xfrm>
          <a:prstGeom prst="rect">
            <a:avLst/>
          </a:prstGeom>
          <a:noFill/>
        </p:spPr>
        <p:txBody>
          <a:bodyPr wrap="square">
            <a:spAutoFit/>
          </a:bodyPr>
          <a:lstStyle/>
          <a:p>
            <a:pPr algn="l"/>
            <a:r>
              <a:rPr sz="1600" b="1" i="0">
                <a:solidFill>
                  <a:srgbClr val="D97706"/>
                </a:solidFill>
                <a:latin typeface="Calibri"/>
              </a:rPr>
              <a:t>Q2</a:t>
            </a:r>
          </a:p>
        </p:txBody>
      </p:sp>
      <p:sp>
        <p:nvSpPr>
          <p:cNvPr id="12" name="TextBox 11"/>
          <p:cNvSpPr txBox="1"/>
          <p:nvPr/>
        </p:nvSpPr>
        <p:spPr>
          <a:xfrm>
            <a:off x="457200" y="3337560"/>
            <a:ext cx="8138160" cy="1371600"/>
          </a:xfrm>
          <a:prstGeom prst="rect">
            <a:avLst/>
          </a:prstGeom>
          <a:noFill/>
        </p:spPr>
        <p:txBody>
          <a:bodyPr wrap="square">
            <a:spAutoFit/>
          </a:bodyPr>
          <a:lstStyle/>
          <a:p>
            <a:pPr algn="l"/>
            <a:r>
              <a:rPr sz="1300" b="0" i="0">
                <a:solidFill>
                  <a:srgbClr val="FFFFFF"/>
                </a:solidFill>
                <a:latin typeface="Calibri"/>
              </a:rPr>
              <a:t>Rate your understanding: I can explain ecosystem roles → Yes / Nearly / Not yet</a:t>
            </a:r>
          </a:p>
        </p:txBody>
      </p:sp>
      <p:sp>
        <p:nvSpPr>
          <p:cNvPr id="13" name="TextBox 12"/>
          <p:cNvSpPr txBox="1"/>
          <p:nvPr/>
        </p:nvSpPr>
        <p:spPr>
          <a:xfrm>
            <a:off x="274320" y="6035040"/>
            <a:ext cx="8595360" cy="365760"/>
          </a:xfrm>
          <a:prstGeom prst="rect">
            <a:avLst/>
          </a:prstGeom>
          <a:noFill/>
        </p:spPr>
        <p:txBody>
          <a:bodyPr wrap="square">
            <a:spAutoFit/>
          </a:bodyPr>
          <a:lstStyle/>
          <a:p>
            <a:pPr algn="ctr"/>
            <a:r>
              <a:rPr sz="1100" b="0" i="0">
                <a:solidFill>
                  <a:srgbClr val="88AA77"/>
                </a:solidFill>
                <a:latin typeface="Calibri"/>
              </a:rPr>
              <a:t>Hand in before leaving class — or submit digitally as directed by your teacher.</a:t>
            </a:r>
          </a:p>
        </p:txBody>
      </p:sp>
      <p:sp>
        <p:nvSpPr>
          <p:cNvPr id="14" name="Rectangle 13"/>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2880" y="6601968"/>
            <a:ext cx="8778240" cy="228600"/>
          </a:xfrm>
          <a:prstGeom prst="rect">
            <a:avLst/>
          </a:prstGeom>
          <a:noFill/>
        </p:spPr>
        <p:txBody>
          <a:bodyPr wrap="square">
            <a:spAutoFit/>
          </a:bodyPr>
          <a:lstStyle/>
          <a:p>
            <a:pPr algn="r"/>
            <a:r>
              <a:rPr sz="900" b="0" i="0">
                <a:solidFill>
                  <a:srgbClr val="558866"/>
                </a:solidFill>
                <a:latin typeface="Calibri"/>
              </a:rPr>
              <a:t>taronga.org.au  ·  TARONGA TRACKA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