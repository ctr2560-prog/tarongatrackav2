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0" y="0"/>
            <a:ext cx="2286000" cy="182880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903720" y="9144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PDHPE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03720" y="50292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STAGE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03720" y="109728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C4B2"/>
                </a:solidFill>
                <a:latin typeface="Calibri"/>
              </a:rPr>
              <a:t>PRE-VISIT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6035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Performance Analysis, Health Equity &amp; Advocacy
Before the Zoo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918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E185D"/>
                </a:solidFill>
                <a:latin typeface="Calibri"/>
              </a:rPr>
              <a:t>TARONGA TRACKA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49039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AA99"/>
                </a:solidFill>
                <a:latin typeface="Calibri"/>
              </a:rPr>
              <a:t>NSW Outcomes: PD5-2  ·  PD5-5  ·  PD5-10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160520"/>
            <a:ext cx="7863840" cy="22860"/>
          </a:xfrm>
          <a:prstGeom prst="rect">
            <a:avLst/>
          </a:prstGeom>
          <a:solidFill>
            <a:srgbClr val="2E7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29768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C4B2"/>
                </a:solidFill>
                <a:latin typeface="Calibri"/>
              </a:rPr>
              <a:t>Prepare students for their Taronga excursion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2880" y="6601968"/>
            <a:ext cx="8778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AA99"/>
                </a:solidFill>
                <a:latin typeface="Calibri"/>
              </a:rPr>
              <a:t>taronga.org.au  ·  tarongatracka.com.au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82296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LEARNING INTENTION &amp; SUCCESS CRITERIA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8595360" cy="1371600"/>
          </a:xfrm>
          <a:prstGeom prst="rect">
            <a:avLst/>
          </a:prstGeom>
          <a:solidFill>
            <a:srgbClr val="0E2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73152" cy="137160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BE185D"/>
                </a:solidFill>
                <a:latin typeface="Calibri"/>
              </a:rPr>
              <a:t>LEARNING INTENTION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8138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Apply biomechanical analysis to evaluate animal performance, critically examine equity in conservation, and design evidence-based health and conservation advocacy.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6974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97706"/>
                </a:solidFill>
                <a:latin typeface="Calibri"/>
              </a:rPr>
              <a:t>SUCCESS CRITERIA — I can...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3108960"/>
            <a:ext cx="8595360" cy="68580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3108960"/>
            <a:ext cx="73152" cy="68580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3218688"/>
            <a:ext cx="320040" cy="32004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" y="3200400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20040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I can apply Newton's laws and biomechanical principles to analyse animal movement performance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931920"/>
            <a:ext cx="8595360" cy="68580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3931920"/>
            <a:ext cx="73152" cy="68580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1480" y="4041648"/>
            <a:ext cx="320040" cy="32004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9768" y="4023359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023359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I can critique equity in conservation funding and decision-making with specific evidence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4754880"/>
            <a:ext cx="8595360" cy="68580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4754880"/>
            <a:ext cx="73152" cy="68580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1480" y="4864608"/>
            <a:ext cx="320040" cy="32004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9768" y="4846320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84632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I can design an advocacy campaign that combines evidence, emotional resonance and a clear theory of change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926080" y="914400"/>
            <a:ext cx="3291840" cy="256032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69080" y="1371600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 i="0">
                <a:solidFill>
                  <a:srgbClr val="BE185D"/>
                </a:solidFill>
                <a:latin typeface="Calibri"/>
              </a:rP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611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VIDEO PLACEHOLDER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6052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8C4B2"/>
                </a:solidFill>
                <a:latin typeface="Calibri"/>
              </a:rPr>
              <a:t>Insert a short clip introducing the animals students will observe today.
Suggested: Taronga keeper video, National Geographic clip, or animal documentary excerpt.
Aim for 2–4 minutes — pause at key moments to discuss.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852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58866"/>
                </a:solidFill>
                <a:latin typeface="Calibri"/>
              </a:rPr>
              <a:t>Teacher note: embed your chosen video directly into this slide before presenting.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77724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BIOMECHANICS AND PERFORMANCE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828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8C4B2"/>
                </a:solidFill>
                <a:latin typeface="Calibri"/>
              </a:rPr>
              <a:t>4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54864" cy="86868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6128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Force vectors, torque, Newton's laws applied to animal movement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05740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2057400"/>
            <a:ext cx="54864" cy="86868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6712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Video analysis technique: freeze-frame, identify joint angles, force application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06324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3063240"/>
            <a:ext cx="54864" cy="86868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17296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Performance analysis in conservation: how do researchers measure animal health?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406908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4069080"/>
            <a:ext cx="54864" cy="86868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17880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Apply: analyse the biomechanics of a tiger pouncing vs a sea lion swimming — compare force generation and energy efficiency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77724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HEALTH EQUITY IN CONSERVATION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828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8C4B2"/>
                </a:solidFill>
                <a:latin typeface="Calibri"/>
              </a:rPr>
              <a:t>5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54864" cy="86868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6128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Health equity: equal opportunity to achieve full health potential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05740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2057400"/>
            <a:ext cx="54864" cy="86868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6712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Conservation equity: not all species receive equal funding or attention (flagship vs non-charismatic species)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06324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3063240"/>
            <a:ext cx="54864" cy="86868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17296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Geographical inequity: most biodiversity in low-income nations; most conservation funding from high-income nations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406908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4069080"/>
            <a:ext cx="54864" cy="86868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17880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Critical question: who decides which species are worth saving, and by what criteria?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77724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SOCIAL DETERMINANTS AND "ONE HEALTH"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828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8C4B2"/>
                </a:solidFill>
                <a:latin typeface="Calibri"/>
              </a:rPr>
              <a:t>6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54864" cy="86868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6128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Social determinants of human health are mirrored in wildlife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05740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2057400"/>
            <a:ext cx="54864" cy="86868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6712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Poverty → poaching; inequality → land conflict; lack of education → habitat destruction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06324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3063240"/>
            <a:ext cx="54864" cy="86868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17296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"One Health" framework: human, animal, and ecosystem health are inseparable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406908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4069080"/>
            <a:ext cx="54864" cy="86868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17880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Case study: COVID-19 and zoonotic disease — how does wildlife health directly affect human health?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77724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EVIDENCE-BASED ADVOCACY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828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8C4B2"/>
                </a:solidFill>
                <a:latin typeface="Calibri"/>
              </a:rPr>
              <a:t>7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54864" cy="86868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6128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Effective advocacy: identifies problem, targets audience, uses evidence, proposes solution, measures impact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05740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2057400"/>
            <a:ext cx="54864" cy="86868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6712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Taronga as model: examine their advocacy campaigns — what makes them effective?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06324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3063240"/>
            <a:ext cx="54864" cy="86868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17296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At the zoo: collect evidence (observation, statistics, stories) for your advocacy project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406908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4069080"/>
            <a:ext cx="54864" cy="86868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17880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Design principle: the most powerful advocacy combines emotion + evidence + clear action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A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10058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8229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71E14"/>
                </a:solidFill>
                <a:latin typeface="Calibri"/>
              </a:rPr>
              <a:t>🧠  BRAIN BREAK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25880"/>
            <a:ext cx="8595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D97706"/>
                </a:solidFill>
                <a:latin typeface="Calibri"/>
              </a:rPr>
              <a:t>ANIMAL ALPHABET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2011680"/>
            <a:ext cx="8595360" cy="256032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2011680"/>
            <a:ext cx="91440" cy="25603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148840"/>
            <a:ext cx="8138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Starting from A, take turns naming an animal. Skip a letter and you're out! How far can the class get?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75488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88AA77"/>
                </a:solidFill>
                <a:latin typeface="Calibri"/>
              </a:rPr>
              <a:t>⏱  Allow 3–5 minutes  ·  Everyone participates!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91440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82880"/>
            <a:ext cx="8503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PLANNING SESSION — Getting Ready for the Zoo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188720"/>
            <a:ext cx="8595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97706"/>
                </a:solidFill>
                <a:latin typeface="Calibri"/>
              </a:rPr>
              <a:t>Your Mission at Taronga Zoo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645920"/>
            <a:ext cx="8595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Critically evaluating captive animal performance and welfare; analysing equity in conservation resource distribution; designing evidence-based advocacy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37744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BE185D"/>
                </a:solidFill>
                <a:latin typeface="Calibri"/>
              </a:rPr>
              <a:t>Planning Checklist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834640"/>
            <a:ext cx="457200" cy="50292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1752" y="288036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BE185D"/>
                </a:solidFill>
                <a:latin typeface="Calibri"/>
              </a:rP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898648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Choose the animals you most want to observe — write them down now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3566160"/>
            <a:ext cx="457200" cy="50292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1752" y="361188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BE185D"/>
                </a:solidFill>
                <a:latin typeface="Calibri"/>
              </a:rPr>
              <a:t>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630168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What specific thing will you look for at each animal? (behaviour / feature / data)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4297680"/>
            <a:ext cx="457200" cy="50292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1752" y="434340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BE185D"/>
                </a:solidFill>
                <a:latin typeface="Calibri"/>
              </a:rP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361688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Which prior knowledge from PDHPE can you connect to each animal?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5029200"/>
            <a:ext cx="457200" cy="50292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1752" y="507492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BE185D"/>
                </a:solidFill>
                <a:latin typeface="Calibri"/>
              </a:rPr>
              <a:t>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093208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How will you earn maximum points? (read the scoring guide on the next slide)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914400"/>
          </a:xfrm>
          <a:prstGeom prst="rect">
            <a:avLst/>
          </a:prstGeom>
          <a:solidFill>
            <a:srgbClr val="1A14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8288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D97706"/>
                </a:solidFill>
                <a:latin typeface="Calibri"/>
              </a:rPr>
              <a:t>🎫  EXIT TICKET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34440"/>
            <a:ext cx="8595360" cy="169164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234440"/>
            <a:ext cx="73152" cy="16916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137160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97706"/>
                </a:solidFill>
                <a:latin typeface="Calibri"/>
              </a:rPr>
              <a:t>Q1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17320"/>
            <a:ext cx="8138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Apply one of Newton's laws to explain a movement you observed at the zoo. Be specific about force, mass and acceleration.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3154680"/>
            <a:ext cx="8595360" cy="169164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3154680"/>
            <a:ext cx="73152" cy="16916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" y="329184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97706"/>
                </a:solidFill>
                <a:latin typeface="Calibri"/>
              </a:rPr>
              <a:t>Q2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337560"/>
            <a:ext cx="8138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Identify one equity issue in wildlife conservation. Who is advantaged? Who is disadvantaged? Explain in 3 sentences.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603504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AA77"/>
                </a:solidFill>
                <a:latin typeface="Calibri"/>
              </a:rPr>
              <a:t>Hand in before leaving for the zoo — or submit via your teacher's instructions.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2880" y="6601968"/>
            <a:ext cx="8778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8866"/>
                </a:solidFill>
                <a:latin typeface="Calibri"/>
              </a:rPr>
              <a:t>taronga.org.au  ·  TARONGA TRACKA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